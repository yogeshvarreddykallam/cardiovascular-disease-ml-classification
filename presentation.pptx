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embeddedFontLst>
    <p:embeddedFont>
      <p:font typeface="Lato" panose="020F0502020204030203" pitchFamily="34" charset="0"/>
      <p:regular r:id="rId20"/>
      <p:bold r:id="rId21"/>
      <p:italic r:id="rId22"/>
      <p:boldItalic r:id="rId23"/>
    </p:embeddedFont>
    <p:embeddedFont>
      <p:font typeface="Poppins" pitchFamily="2" charset="77"/>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68"/>
  </p:normalViewPr>
  <p:slideViewPr>
    <p:cSldViewPr snapToGrid="0">
      <p:cViewPr varScale="1">
        <p:scale>
          <a:sx n="91" d="100"/>
          <a:sy n="91" d="100"/>
        </p:scale>
        <p:origin x="192" y="7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a225cf109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a225cf109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a225cf109f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g3a225cf109f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a225cf109f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a225cf109f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a225cf109f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g3a225cf109f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0" name="Google Shape;32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a225cf109f_1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a225cf109f_1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arxiv.org/abs/2203.04921"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495300" y="5537150"/>
            <a:ext cx="11049000" cy="27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334155"/>
                </a:solidFill>
                <a:latin typeface="Lato"/>
                <a:ea typeface="Lato"/>
                <a:cs typeface="Lato"/>
                <a:sym typeface="Lato"/>
              </a:rPr>
              <a:t>P</a:t>
            </a:r>
            <a:r>
              <a:rPr lang="en-US" sz="1800">
                <a:solidFill>
                  <a:srgbClr val="334155"/>
                </a:solidFill>
                <a:latin typeface="Lato"/>
                <a:ea typeface="Lato"/>
                <a:cs typeface="Lato"/>
                <a:sym typeface="Lato"/>
              </a:rPr>
              <a:t>resented </a:t>
            </a:r>
            <a:r>
              <a:rPr lang="en-US" sz="1800" b="0" i="0" u="none" strike="noStrike" cap="none">
                <a:solidFill>
                  <a:srgbClr val="334155"/>
                </a:solidFill>
                <a:latin typeface="Lato"/>
                <a:ea typeface="Lato"/>
                <a:cs typeface="Lato"/>
                <a:sym typeface="Lato"/>
              </a:rPr>
              <a:t> by: </a:t>
            </a:r>
            <a:r>
              <a:rPr lang="en-US" sz="1800">
                <a:solidFill>
                  <a:srgbClr val="334155"/>
                </a:solidFill>
                <a:latin typeface="Lato"/>
                <a:ea typeface="Lato"/>
                <a:cs typeface="Lato"/>
                <a:sym typeface="Lato"/>
              </a:rPr>
              <a:t>Yogeshvar Reddy Kallam</a:t>
            </a:r>
            <a:r>
              <a:rPr lang="en-US" sz="1800" b="0" i="0" u="none" strike="noStrike" cap="none">
                <a:solidFill>
                  <a:srgbClr val="334155"/>
                </a:solidFill>
                <a:latin typeface="Lato"/>
                <a:ea typeface="Lato"/>
                <a:cs typeface="Lato"/>
                <a:sym typeface="Lato"/>
              </a:rPr>
              <a:t> </a:t>
            </a:r>
            <a:endParaRPr/>
          </a:p>
        </p:txBody>
      </p:sp>
      <p:sp>
        <p:nvSpPr>
          <p:cNvPr id="86" name="Google Shape;86;p13"/>
          <p:cNvSpPr txBox="1"/>
          <p:nvPr/>
        </p:nvSpPr>
        <p:spPr>
          <a:xfrm>
            <a:off x="295275" y="1714500"/>
            <a:ext cx="11601600" cy="19626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750" b="1" i="0" u="none" strike="noStrike" cap="none">
                <a:solidFill>
                  <a:srgbClr val="1E293B"/>
                </a:solidFill>
                <a:latin typeface="Poppins"/>
                <a:ea typeface="Poppins"/>
                <a:cs typeface="Poppins"/>
                <a:sym typeface="Poppins"/>
              </a:rPr>
              <a:t>The Severity Prediction of Binary and Multi-Class Cardiovascular Disease: A Machine Learning-Based Fusion Approach</a:t>
            </a:r>
            <a:endParaRPr/>
          </a:p>
        </p:txBody>
      </p:sp>
      <p:sp>
        <p:nvSpPr>
          <p:cNvPr id="87" name="Google Shape;87;p13"/>
          <p:cNvSpPr txBox="1"/>
          <p:nvPr/>
        </p:nvSpPr>
        <p:spPr>
          <a:xfrm>
            <a:off x="571500" y="4217100"/>
            <a:ext cx="11049000" cy="6927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334155"/>
                </a:solidFill>
                <a:latin typeface="Lato"/>
                <a:ea typeface="Lato"/>
                <a:cs typeface="Lato"/>
                <a:sym typeface="Lato"/>
              </a:rPr>
              <a:t>Paper by: Hafsa Binte Kibria &amp; Abdul Matin </a:t>
            </a:r>
            <a:br>
              <a:rPr lang="en-US" sz="1800" b="0" i="0" u="none" strike="noStrike" cap="none">
                <a:solidFill>
                  <a:schemeClr val="dk1"/>
                </a:solidFill>
                <a:latin typeface="Calibri"/>
                <a:ea typeface="Calibri"/>
                <a:cs typeface="Calibri"/>
                <a:sym typeface="Calibri"/>
              </a:rPr>
            </a:br>
            <a:r>
              <a:rPr lang="en-US" sz="1800" b="0" i="0" u="sng" strike="noStrike" cap="none">
                <a:solidFill>
                  <a:schemeClr val="hlink"/>
                </a:solidFill>
                <a:latin typeface="Lato"/>
                <a:ea typeface="Lato"/>
                <a:cs typeface="Lato"/>
                <a:sym typeface="Lato"/>
                <a:hlinkClick r:id="rId4"/>
              </a:rPr>
              <a:t>(arXiv:2203.04921v1)</a:t>
            </a:r>
            <a:endParaRPr/>
          </a:p>
        </p:txBody>
      </p:sp>
      <p:sp>
        <p:nvSpPr>
          <p:cNvPr id="3" name="Slide Number Placeholder 2">
            <a:extLst>
              <a:ext uri="{FF2B5EF4-FFF2-40B4-BE49-F238E27FC236}">
                <a16:creationId xmlns:a16="http://schemas.microsoft.com/office/drawing/2014/main" id="{EE043CB1-27C0-A5B4-8877-3728756EB0B4}"/>
              </a:ext>
            </a:extLst>
          </p:cNvPr>
          <p:cNvSpPr>
            <a:spLocks noGrp="1"/>
          </p:cNvSpPr>
          <p:nvPr>
            <p:ph type="sldNum" idx="12"/>
          </p:nvPr>
        </p:nvSpPr>
        <p:spPr>
          <a:xfrm>
            <a:off x="-2086356" y="6259137"/>
            <a:ext cx="2581656" cy="365125"/>
          </a:xfrm>
        </p:spPr>
        <p:txBody>
          <a:bodyPr/>
          <a:lstStyle/>
          <a:p>
            <a:pPr marL="0" lvl="0" indent="0" algn="r" rtl="0">
              <a:spcBef>
                <a:spcPts val="0"/>
              </a:spcBef>
              <a:spcAft>
                <a:spcPts val="0"/>
              </a:spcAft>
              <a:buNone/>
            </a:pPr>
            <a:fld id="{00000000-1234-1234-1234-123412341234}" type="slidenum">
              <a:rPr lang="en-US" smtClean="0"/>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3" name="Google Shape;93;p14"/>
          <p:cNvSpPr txBox="1"/>
          <p:nvPr/>
        </p:nvSpPr>
        <p:spPr>
          <a:xfrm>
            <a:off x="1714500" y="2511028"/>
            <a:ext cx="91440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1E293B"/>
                </a:solidFill>
                <a:latin typeface="Lato"/>
                <a:ea typeface="Lato"/>
                <a:cs typeface="Lato"/>
                <a:sym typeface="Lato"/>
              </a:rPr>
              <a:t>The Problem:</a:t>
            </a:r>
            <a:r>
              <a:rPr lang="en-US" sz="1425" b="0" i="0" u="none" strike="noStrike" cap="none">
                <a:solidFill>
                  <a:srgbClr val="334155"/>
                </a:solidFill>
                <a:latin typeface="Lato"/>
                <a:ea typeface="Lato"/>
                <a:cs typeface="Lato"/>
                <a:sym typeface="Lato"/>
              </a:rPr>
              <a:t> Cardiovascular Diseases (CVDs) are the leading cause of mortality worldwide, responsible for ~17.9 million deaths annually (31% of all global deaths).</a:t>
            </a:r>
            <a:endParaRPr/>
          </a:p>
        </p:txBody>
      </p:sp>
      <p:sp>
        <p:nvSpPr>
          <p:cNvPr id="94" name="Google Shape;94;p14"/>
          <p:cNvSpPr txBox="1"/>
          <p:nvPr/>
        </p:nvSpPr>
        <p:spPr>
          <a:xfrm>
            <a:off x="1714500" y="3280469"/>
            <a:ext cx="91440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1E293B"/>
                </a:solidFill>
                <a:latin typeface="Lato"/>
                <a:ea typeface="Lato"/>
                <a:cs typeface="Lato"/>
                <a:sym typeface="Lato"/>
              </a:rPr>
              <a:t>The Bottleneck:</a:t>
            </a:r>
            <a:r>
              <a:rPr lang="en-US" sz="1425" b="0" i="0" u="none" strike="noStrike" cap="none">
                <a:solidFill>
                  <a:srgbClr val="334155"/>
                </a:solidFill>
                <a:latin typeface="Lato"/>
                <a:ea typeface="Lato"/>
                <a:cs typeface="Lato"/>
                <a:sym typeface="Lato"/>
              </a:rPr>
              <a:t> Traditional diagnosis (symptoms, ECGs, bloodwork) is often time-consuming, expensive, and reactive.</a:t>
            </a:r>
            <a:endParaRPr/>
          </a:p>
        </p:txBody>
      </p:sp>
      <p:sp>
        <p:nvSpPr>
          <p:cNvPr id="95" name="Google Shape;95;p14"/>
          <p:cNvSpPr txBox="1"/>
          <p:nvPr/>
        </p:nvSpPr>
        <p:spPr>
          <a:xfrm>
            <a:off x="1714500" y="4049910"/>
            <a:ext cx="914400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1E293B"/>
                </a:solidFill>
                <a:latin typeface="Lato"/>
                <a:ea typeface="Lato"/>
                <a:cs typeface="Lato"/>
                <a:sym typeface="Lato"/>
              </a:rPr>
              <a:t>The Goal:</a:t>
            </a:r>
            <a:r>
              <a:rPr lang="en-US" sz="1425" b="0" i="0" u="none" strike="noStrike" cap="none">
                <a:solidFill>
                  <a:srgbClr val="334155"/>
                </a:solidFill>
                <a:latin typeface="Lato"/>
                <a:ea typeface="Lato"/>
                <a:cs typeface="Lato"/>
                <a:sym typeface="Lato"/>
              </a:rPr>
              <a:t> There is a significant clinical need for an accurate, rapid, and cost-effective predictive model.</a:t>
            </a:r>
            <a:endParaRPr/>
          </a:p>
        </p:txBody>
      </p:sp>
      <p:sp>
        <p:nvSpPr>
          <p:cNvPr id="96" name="Google Shape;96;p14"/>
          <p:cNvSpPr txBox="1"/>
          <p:nvPr/>
        </p:nvSpPr>
        <p:spPr>
          <a:xfrm>
            <a:off x="1714500" y="4529881"/>
            <a:ext cx="91440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1E293B"/>
                </a:solidFill>
                <a:latin typeface="Lato"/>
                <a:ea typeface="Lato"/>
                <a:cs typeface="Lato"/>
                <a:sym typeface="Lato"/>
              </a:rPr>
              <a:t>The Proposed Solution:</a:t>
            </a:r>
            <a:r>
              <a:rPr lang="en-US" sz="1425" b="0" i="0" u="none" strike="noStrike" cap="none">
                <a:solidFill>
                  <a:srgbClr val="334155"/>
                </a:solidFill>
                <a:latin typeface="Lato"/>
                <a:ea typeface="Lato"/>
                <a:cs typeface="Lato"/>
                <a:sym typeface="Lato"/>
              </a:rPr>
              <a:t> Use machine learning (ML) to analyze existing patient data, identify hidden patterns, and create a robust predictive system.</a:t>
            </a:r>
            <a:endParaRPr/>
          </a:p>
        </p:txBody>
      </p:sp>
      <p:pic>
        <p:nvPicPr>
          <p:cNvPr id="97" name="Google Shape;97;p14" descr="image.png"/>
          <p:cNvPicPr preferRelativeResize="0"/>
          <p:nvPr/>
        </p:nvPicPr>
        <p:blipFill rotWithShape="1">
          <a:blip r:embed="rId4">
            <a:alphaModFix/>
          </a:blip>
          <a:srcRect/>
          <a:stretch/>
        </p:blipFill>
        <p:spPr>
          <a:xfrm>
            <a:off x="1333500" y="2558653"/>
            <a:ext cx="238125" cy="228600"/>
          </a:xfrm>
          <a:prstGeom prst="rect">
            <a:avLst/>
          </a:prstGeom>
          <a:noFill/>
          <a:ln>
            <a:noFill/>
          </a:ln>
        </p:spPr>
      </p:pic>
      <p:pic>
        <p:nvPicPr>
          <p:cNvPr id="98" name="Google Shape;98;p14" descr="image.png"/>
          <p:cNvPicPr preferRelativeResize="0"/>
          <p:nvPr/>
        </p:nvPicPr>
        <p:blipFill rotWithShape="1">
          <a:blip r:embed="rId5">
            <a:alphaModFix/>
          </a:blip>
          <a:srcRect/>
          <a:stretch/>
        </p:blipFill>
        <p:spPr>
          <a:xfrm>
            <a:off x="1333500" y="3328094"/>
            <a:ext cx="238125" cy="228600"/>
          </a:xfrm>
          <a:prstGeom prst="rect">
            <a:avLst/>
          </a:prstGeom>
          <a:noFill/>
          <a:ln>
            <a:noFill/>
          </a:ln>
        </p:spPr>
      </p:pic>
      <p:pic>
        <p:nvPicPr>
          <p:cNvPr id="99" name="Google Shape;99;p14" descr="image.png"/>
          <p:cNvPicPr preferRelativeResize="0"/>
          <p:nvPr/>
        </p:nvPicPr>
        <p:blipFill rotWithShape="1">
          <a:blip r:embed="rId6">
            <a:alphaModFix/>
          </a:blip>
          <a:srcRect/>
          <a:stretch/>
        </p:blipFill>
        <p:spPr>
          <a:xfrm>
            <a:off x="1333500" y="4097535"/>
            <a:ext cx="238125" cy="228600"/>
          </a:xfrm>
          <a:prstGeom prst="rect">
            <a:avLst/>
          </a:prstGeom>
          <a:noFill/>
          <a:ln>
            <a:noFill/>
          </a:ln>
        </p:spPr>
      </p:pic>
      <p:pic>
        <p:nvPicPr>
          <p:cNvPr id="100" name="Google Shape;100;p14" descr="image.png"/>
          <p:cNvPicPr preferRelativeResize="0"/>
          <p:nvPr/>
        </p:nvPicPr>
        <p:blipFill rotWithShape="1">
          <a:blip r:embed="rId7">
            <a:alphaModFix/>
          </a:blip>
          <a:srcRect/>
          <a:stretch/>
        </p:blipFill>
        <p:spPr>
          <a:xfrm>
            <a:off x="1333500" y="4577506"/>
            <a:ext cx="238125" cy="228600"/>
          </a:xfrm>
          <a:prstGeom prst="rect">
            <a:avLst/>
          </a:prstGeom>
          <a:noFill/>
          <a:ln>
            <a:noFill/>
          </a:ln>
        </p:spPr>
      </p:pic>
      <p:sp>
        <p:nvSpPr>
          <p:cNvPr id="101" name="Google Shape;101;p14"/>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E293B"/>
                </a:solidFill>
                <a:latin typeface="Poppins"/>
                <a:ea typeface="Poppins"/>
                <a:cs typeface="Poppins"/>
                <a:sym typeface="Poppins"/>
              </a:rPr>
              <a:t>The Motivation: A Critical Clinical Need</a:t>
            </a:r>
            <a:endParaRPr/>
          </a:p>
        </p:txBody>
      </p:sp>
      <p:sp>
        <p:nvSpPr>
          <p:cNvPr id="3" name="Slide Number Placeholder 2">
            <a:extLst>
              <a:ext uri="{FF2B5EF4-FFF2-40B4-BE49-F238E27FC236}">
                <a16:creationId xmlns:a16="http://schemas.microsoft.com/office/drawing/2014/main" id="{A492DC2F-40C7-4AB0-ED1D-B68C80FC3C2F}"/>
              </a:ext>
            </a:extLst>
          </p:cNvPr>
          <p:cNvSpPr>
            <a:spLocks noGrp="1"/>
          </p:cNvSpPr>
          <p:nvPr>
            <p:ph type="sldNum" idx="12"/>
          </p:nvPr>
        </p:nvSpPr>
        <p:spPr>
          <a:xfrm>
            <a:off x="-1774874" y="6229740"/>
            <a:ext cx="2133600" cy="365125"/>
          </a:xfrm>
        </p:spPr>
        <p:txBody>
          <a:bodyPr/>
          <a:lstStyle/>
          <a:p>
            <a:pPr marL="0" lvl="0" indent="0" algn="r" rtl="0">
              <a:spcBef>
                <a:spcPts val="0"/>
              </a:spcBef>
              <a:spcAft>
                <a:spcPts val="0"/>
              </a:spcAft>
              <a:buNone/>
            </a:pPr>
            <a:fld id="{00000000-1234-1234-1234-123412341234}" type="slidenum">
              <a:rPr lang="en-US" smtClean="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5"/>
        <p:cNvGrpSpPr/>
        <p:nvPr/>
      </p:nvGrpSpPr>
      <p:grpSpPr>
        <a:xfrm>
          <a:off x="0" y="0"/>
          <a:ext cx="0" cy="0"/>
          <a:chOff x="0" y="0"/>
          <a:chExt cx="0" cy="0"/>
        </a:xfrm>
      </p:grpSpPr>
      <p:pic>
        <p:nvPicPr>
          <p:cNvPr id="106" name="Google Shape;106;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7" name="Google Shape;107;p15" descr="image.png"/>
          <p:cNvPicPr preferRelativeResize="0"/>
          <p:nvPr/>
        </p:nvPicPr>
        <p:blipFill rotWithShape="1">
          <a:blip r:embed="rId4">
            <a:alphaModFix/>
          </a:blip>
          <a:srcRect/>
          <a:stretch/>
        </p:blipFill>
        <p:spPr>
          <a:xfrm>
            <a:off x="571500" y="2085379"/>
            <a:ext cx="5286375" cy="3639740"/>
          </a:xfrm>
          <a:prstGeom prst="rect">
            <a:avLst/>
          </a:prstGeom>
          <a:noFill/>
          <a:ln>
            <a:noFill/>
          </a:ln>
        </p:spPr>
      </p:pic>
      <p:pic>
        <p:nvPicPr>
          <p:cNvPr id="108" name="Google Shape;108;p15" descr="image.png"/>
          <p:cNvPicPr preferRelativeResize="0"/>
          <p:nvPr/>
        </p:nvPicPr>
        <p:blipFill rotWithShape="1">
          <a:blip r:embed="rId5">
            <a:alphaModFix/>
          </a:blip>
          <a:srcRect/>
          <a:stretch/>
        </p:blipFill>
        <p:spPr>
          <a:xfrm>
            <a:off x="6334125" y="2085379"/>
            <a:ext cx="5286375" cy="3639740"/>
          </a:xfrm>
          <a:prstGeom prst="rect">
            <a:avLst/>
          </a:prstGeom>
          <a:noFill/>
          <a:ln>
            <a:noFill/>
          </a:ln>
        </p:spPr>
      </p:pic>
      <p:sp>
        <p:nvSpPr>
          <p:cNvPr id="109" name="Google Shape;109;p15"/>
          <p:cNvSpPr txBox="1"/>
          <p:nvPr/>
        </p:nvSpPr>
        <p:spPr>
          <a:xfrm>
            <a:off x="962025" y="2475904"/>
            <a:ext cx="4730591" cy="800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Binary Classification (The Baseline)</a:t>
            </a:r>
            <a:endParaRPr/>
          </a:p>
        </p:txBody>
      </p:sp>
      <p:sp>
        <p:nvSpPr>
          <p:cNvPr id="110" name="Google Shape;110;p15"/>
          <p:cNvSpPr txBox="1"/>
          <p:nvPr/>
        </p:nvSpPr>
        <p:spPr>
          <a:xfrm>
            <a:off x="6724650" y="2475904"/>
            <a:ext cx="4730591" cy="800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Multi-Class (The Core Contribution)</a:t>
            </a:r>
            <a:endParaRPr/>
          </a:p>
        </p:txBody>
      </p:sp>
      <p:sp>
        <p:nvSpPr>
          <p:cNvPr id="111" name="Google Shape;111;p15"/>
          <p:cNvSpPr txBox="1"/>
          <p:nvPr/>
        </p:nvSpPr>
        <p:spPr>
          <a:xfrm>
            <a:off x="1343025" y="3466504"/>
            <a:ext cx="4124325" cy="479821"/>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Question:</a:t>
            </a:r>
            <a:r>
              <a:rPr lang="en-US" sz="1350" b="0" i="0" u="none" strike="noStrike" cap="none">
                <a:solidFill>
                  <a:srgbClr val="334155"/>
                </a:solidFill>
                <a:latin typeface="Lato"/>
                <a:ea typeface="Lato"/>
                <a:cs typeface="Lato"/>
                <a:sym typeface="Lato"/>
              </a:rPr>
              <a:t> Does the patient have heart disease? (Yes/No)</a:t>
            </a:r>
            <a:endParaRPr/>
          </a:p>
        </p:txBody>
      </p:sp>
      <p:sp>
        <p:nvSpPr>
          <p:cNvPr id="112" name="Google Shape;112;p15"/>
          <p:cNvSpPr txBox="1"/>
          <p:nvPr/>
        </p:nvSpPr>
        <p:spPr>
          <a:xfrm>
            <a:off x="1343025" y="4089201"/>
            <a:ext cx="4124325" cy="479821"/>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Prediction:</a:t>
            </a:r>
            <a:r>
              <a:rPr lang="en-US" sz="1350" b="0" i="0" u="none" strike="noStrike" cap="none">
                <a:solidFill>
                  <a:srgbClr val="334155"/>
                </a:solidFill>
                <a:latin typeface="Lato"/>
                <a:ea typeface="Lato"/>
                <a:cs typeface="Lato"/>
                <a:sym typeface="Lato"/>
              </a:rPr>
              <a:t> A two-class model predicting the presence or absence of disease.</a:t>
            </a:r>
            <a:endParaRPr/>
          </a:p>
        </p:txBody>
      </p:sp>
      <p:sp>
        <p:nvSpPr>
          <p:cNvPr id="113" name="Google Shape;113;p15"/>
          <p:cNvSpPr txBox="1"/>
          <p:nvPr/>
        </p:nvSpPr>
        <p:spPr>
          <a:xfrm>
            <a:off x="1343025" y="4711898"/>
            <a:ext cx="4124325" cy="479821"/>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Purpose:</a:t>
            </a:r>
            <a:r>
              <a:rPr lang="en-US" sz="1350" b="0" i="0" u="none" strike="noStrike" cap="none">
                <a:solidFill>
                  <a:srgbClr val="334155"/>
                </a:solidFill>
                <a:latin typeface="Lato"/>
                <a:ea typeface="Lato"/>
                <a:cs typeface="Lato"/>
                <a:sym typeface="Lato"/>
              </a:rPr>
              <a:t> Serves as a well-understood baseline to validate the model's methodology.</a:t>
            </a:r>
            <a:endParaRPr/>
          </a:p>
        </p:txBody>
      </p:sp>
      <p:sp>
        <p:nvSpPr>
          <p:cNvPr id="114" name="Google Shape;114;p15"/>
          <p:cNvSpPr txBox="1"/>
          <p:nvPr/>
        </p:nvSpPr>
        <p:spPr>
          <a:xfrm>
            <a:off x="7105650" y="3466504"/>
            <a:ext cx="4124325" cy="479821"/>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Question:</a:t>
            </a:r>
            <a:r>
              <a:rPr lang="en-US" sz="1350" b="0" i="0" u="none" strike="noStrike" cap="none">
                <a:solidFill>
                  <a:srgbClr val="334155"/>
                </a:solidFill>
                <a:latin typeface="Lato"/>
                <a:ea typeface="Lato"/>
                <a:cs typeface="Lato"/>
                <a:sym typeface="Lato"/>
              </a:rPr>
              <a:t> If they have heart disease, what is the severity?</a:t>
            </a:r>
            <a:endParaRPr/>
          </a:p>
        </p:txBody>
      </p:sp>
      <p:sp>
        <p:nvSpPr>
          <p:cNvPr id="115" name="Google Shape;115;p15"/>
          <p:cNvSpPr txBox="1"/>
          <p:nvPr/>
        </p:nvSpPr>
        <p:spPr>
          <a:xfrm>
            <a:off x="7105650" y="4089201"/>
            <a:ext cx="4124325" cy="479821"/>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Prediction:</a:t>
            </a:r>
            <a:r>
              <a:rPr lang="en-US" sz="1350" b="0" i="0" u="none" strike="noStrike" cap="none">
                <a:solidFill>
                  <a:srgbClr val="334155"/>
                </a:solidFill>
                <a:latin typeface="Lato"/>
                <a:ea typeface="Lato"/>
                <a:cs typeface="Lato"/>
                <a:sym typeface="Lato"/>
              </a:rPr>
              <a:t> A five-class model predicting the specific stage of heart disease.</a:t>
            </a:r>
            <a:endParaRPr/>
          </a:p>
        </p:txBody>
      </p:sp>
      <p:sp>
        <p:nvSpPr>
          <p:cNvPr id="116" name="Google Shape;116;p15"/>
          <p:cNvSpPr txBox="1"/>
          <p:nvPr/>
        </p:nvSpPr>
        <p:spPr>
          <a:xfrm>
            <a:off x="7105650" y="4711898"/>
            <a:ext cx="4124325" cy="479821"/>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Labels:</a:t>
            </a:r>
            <a:r>
              <a:rPr lang="en-US" sz="1350" b="0" i="0" u="none" strike="noStrike" cap="none">
                <a:solidFill>
                  <a:srgbClr val="334155"/>
                </a:solidFill>
                <a:latin typeface="Lato"/>
                <a:ea typeface="Lato"/>
                <a:cs typeface="Lato"/>
                <a:sym typeface="Lato"/>
              </a:rPr>
              <a:t> '0' (no disease) and '1-4' (representing escalating degrees of severity).</a:t>
            </a:r>
            <a:endParaRPr/>
          </a:p>
        </p:txBody>
      </p:sp>
      <p:sp>
        <p:nvSpPr>
          <p:cNvPr id="117" name="Google Shape;117;p15"/>
          <p:cNvSpPr txBox="1"/>
          <p:nvPr/>
        </p:nvSpPr>
        <p:spPr>
          <a:xfrm>
            <a:off x="1057275" y="3485554"/>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18" name="Google Shape;118;p15"/>
          <p:cNvSpPr txBox="1"/>
          <p:nvPr/>
        </p:nvSpPr>
        <p:spPr>
          <a:xfrm>
            <a:off x="1057275" y="4108251"/>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19" name="Google Shape;119;p15"/>
          <p:cNvSpPr txBox="1"/>
          <p:nvPr/>
        </p:nvSpPr>
        <p:spPr>
          <a:xfrm>
            <a:off x="1057275" y="4730948"/>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20" name="Google Shape;120;p15"/>
          <p:cNvSpPr txBox="1"/>
          <p:nvPr/>
        </p:nvSpPr>
        <p:spPr>
          <a:xfrm>
            <a:off x="6819900" y="3485554"/>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21" name="Google Shape;121;p15"/>
          <p:cNvSpPr txBox="1"/>
          <p:nvPr/>
        </p:nvSpPr>
        <p:spPr>
          <a:xfrm>
            <a:off x="6819900" y="4108251"/>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22" name="Google Shape;122;p15"/>
          <p:cNvSpPr txBox="1"/>
          <p:nvPr/>
        </p:nvSpPr>
        <p:spPr>
          <a:xfrm>
            <a:off x="6819900" y="4730948"/>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23" name="Google Shape;123;p15"/>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E293B"/>
                </a:solidFill>
                <a:latin typeface="Poppins"/>
                <a:ea typeface="Poppins"/>
                <a:cs typeface="Poppins"/>
                <a:sym typeface="Poppins"/>
              </a:rPr>
              <a:t>The Core Research Problem: Two Classifications</a:t>
            </a:r>
            <a:endParaRPr/>
          </a:p>
        </p:txBody>
      </p:sp>
      <p:sp>
        <p:nvSpPr>
          <p:cNvPr id="3" name="Slide Number Placeholder 2">
            <a:extLst>
              <a:ext uri="{FF2B5EF4-FFF2-40B4-BE49-F238E27FC236}">
                <a16:creationId xmlns:a16="http://schemas.microsoft.com/office/drawing/2014/main" id="{1B12F164-4E57-59E8-F4B7-03F36437DA44}"/>
              </a:ext>
            </a:extLst>
          </p:cNvPr>
          <p:cNvSpPr>
            <a:spLocks noGrp="1"/>
          </p:cNvSpPr>
          <p:nvPr>
            <p:ph type="sldNum" idx="12"/>
          </p:nvPr>
        </p:nvSpPr>
        <p:spPr>
          <a:xfrm>
            <a:off x="-1746739" y="6314147"/>
            <a:ext cx="2133600" cy="365125"/>
          </a:xfrm>
        </p:spPr>
        <p:txBody>
          <a:bodyPr/>
          <a:lstStyle/>
          <a:p>
            <a:pPr marL="0" lvl="0" indent="0" algn="r" rtl="0">
              <a:spcBef>
                <a:spcPts val="0"/>
              </a:spcBef>
              <a:spcAft>
                <a:spcPts val="0"/>
              </a:spcAft>
              <a:buNone/>
            </a:pPr>
            <a:fld id="{00000000-1234-1234-1234-123412341234}" type="slidenum">
              <a:rPr lang="en-US" smtClean="0"/>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16" title="Screenshot 2025-11-10 at 2.30.25 PM.png"/>
          <p:cNvPicPr preferRelativeResize="0"/>
          <p:nvPr/>
        </p:nvPicPr>
        <p:blipFill>
          <a:blip r:embed="rId3">
            <a:alphaModFix/>
          </a:blip>
          <a:stretch>
            <a:fillRect/>
          </a:stretch>
        </p:blipFill>
        <p:spPr>
          <a:xfrm>
            <a:off x="152400" y="152400"/>
            <a:ext cx="11390441" cy="6553202"/>
          </a:xfrm>
          <a:prstGeom prst="rect">
            <a:avLst/>
          </a:prstGeom>
          <a:noFill/>
          <a:ln>
            <a:noFill/>
          </a:ln>
        </p:spPr>
      </p:pic>
      <p:sp>
        <p:nvSpPr>
          <p:cNvPr id="3" name="Slide Number Placeholder 2">
            <a:extLst>
              <a:ext uri="{FF2B5EF4-FFF2-40B4-BE49-F238E27FC236}">
                <a16:creationId xmlns:a16="http://schemas.microsoft.com/office/drawing/2014/main" id="{AF4894DB-5357-AC8F-8F1A-32E4BDB29ECD}"/>
              </a:ext>
            </a:extLst>
          </p:cNvPr>
          <p:cNvSpPr>
            <a:spLocks noGrp="1"/>
          </p:cNvSpPr>
          <p:nvPr>
            <p:ph type="sldNum" idx="12"/>
          </p:nvPr>
        </p:nvSpPr>
        <p:spPr>
          <a:xfrm>
            <a:off x="-1774874" y="6492875"/>
            <a:ext cx="2133600" cy="365125"/>
          </a:xfrm>
        </p:spPr>
        <p:txBody>
          <a:bodyPr/>
          <a:lstStyle/>
          <a:p>
            <a:pPr marL="0" lvl="0" indent="0" algn="r" rtl="0">
              <a:spcBef>
                <a:spcPts val="0"/>
              </a:spcBef>
              <a:spcAft>
                <a:spcPts val="0"/>
              </a:spcAft>
              <a:buNone/>
            </a:pPr>
            <a:fld id="{00000000-1234-1234-1234-123412341234}" type="slidenum">
              <a:rPr lang="en-US" smtClean="0"/>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2"/>
        <p:cNvGrpSpPr/>
        <p:nvPr/>
      </p:nvGrpSpPr>
      <p:grpSpPr>
        <a:xfrm>
          <a:off x="0" y="0"/>
          <a:ext cx="0" cy="0"/>
          <a:chOff x="0" y="0"/>
          <a:chExt cx="0" cy="0"/>
        </a:xfrm>
      </p:grpSpPr>
      <p:pic>
        <p:nvPicPr>
          <p:cNvPr id="133" name="Google Shape;133;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4" name="Google Shape;134;p17" descr="image.png"/>
          <p:cNvPicPr preferRelativeResize="0"/>
          <p:nvPr/>
        </p:nvPicPr>
        <p:blipFill rotWithShape="1">
          <a:blip r:embed="rId4">
            <a:alphaModFix/>
          </a:blip>
          <a:srcRect/>
          <a:stretch/>
        </p:blipFill>
        <p:spPr>
          <a:xfrm>
            <a:off x="571500" y="1974056"/>
            <a:ext cx="5286375" cy="3862387"/>
          </a:xfrm>
          <a:prstGeom prst="rect">
            <a:avLst/>
          </a:prstGeom>
          <a:noFill/>
          <a:ln>
            <a:noFill/>
          </a:ln>
        </p:spPr>
      </p:pic>
      <p:pic>
        <p:nvPicPr>
          <p:cNvPr id="135" name="Google Shape;135;p17" descr="image.png"/>
          <p:cNvPicPr preferRelativeResize="0"/>
          <p:nvPr/>
        </p:nvPicPr>
        <p:blipFill rotWithShape="1">
          <a:blip r:embed="rId5">
            <a:alphaModFix/>
          </a:blip>
          <a:srcRect/>
          <a:stretch/>
        </p:blipFill>
        <p:spPr>
          <a:xfrm>
            <a:off x="6334125" y="1974056"/>
            <a:ext cx="5286375" cy="3862387"/>
          </a:xfrm>
          <a:prstGeom prst="rect">
            <a:avLst/>
          </a:prstGeom>
          <a:noFill/>
          <a:ln>
            <a:noFill/>
          </a:ln>
        </p:spPr>
      </p:pic>
      <p:sp>
        <p:nvSpPr>
          <p:cNvPr id="136" name="Google Shape;136;p17"/>
          <p:cNvSpPr txBox="1"/>
          <p:nvPr/>
        </p:nvSpPr>
        <p:spPr>
          <a:xfrm>
            <a:off x="962025" y="2364581"/>
            <a:ext cx="4730591"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The Dataset: Cleveland UCI</a:t>
            </a:r>
            <a:endParaRPr/>
          </a:p>
        </p:txBody>
      </p:sp>
      <p:sp>
        <p:nvSpPr>
          <p:cNvPr id="137" name="Google Shape;137;p17"/>
          <p:cNvSpPr txBox="1"/>
          <p:nvPr/>
        </p:nvSpPr>
        <p:spPr>
          <a:xfrm>
            <a:off x="6724650" y="2364581"/>
            <a:ext cx="4730591"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Pre-processing Pipeline</a:t>
            </a:r>
            <a:endParaRPr/>
          </a:p>
        </p:txBody>
      </p:sp>
      <p:sp>
        <p:nvSpPr>
          <p:cNvPr id="138" name="Google Shape;138;p17"/>
          <p:cNvSpPr txBox="1"/>
          <p:nvPr/>
        </p:nvSpPr>
        <p:spPr>
          <a:xfrm>
            <a:off x="1343025" y="2955131"/>
            <a:ext cx="4124325" cy="479821"/>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Source:</a:t>
            </a:r>
            <a:r>
              <a:rPr lang="en-US" sz="1350" b="0" i="0" u="none" strike="noStrike" cap="none">
                <a:solidFill>
                  <a:srgbClr val="334155"/>
                </a:solidFill>
                <a:latin typeface="Lato"/>
                <a:ea typeface="Lato"/>
                <a:cs typeface="Lato"/>
                <a:sym typeface="Lato"/>
              </a:rPr>
              <a:t> Cleveland Heart Disease dataset from the UCI Repository.</a:t>
            </a:r>
            <a:endParaRPr/>
          </a:p>
        </p:txBody>
      </p:sp>
      <p:sp>
        <p:nvSpPr>
          <p:cNvPr id="139" name="Google Shape;139;p17"/>
          <p:cNvSpPr txBox="1"/>
          <p:nvPr/>
        </p:nvSpPr>
        <p:spPr>
          <a:xfrm>
            <a:off x="1343025" y="3577828"/>
            <a:ext cx="4124325" cy="23991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Size:</a:t>
            </a:r>
            <a:r>
              <a:rPr lang="en-US" sz="1350" b="0" i="0" u="none" strike="noStrike" cap="none">
                <a:solidFill>
                  <a:srgbClr val="334155"/>
                </a:solidFill>
                <a:latin typeface="Lato"/>
                <a:ea typeface="Lato"/>
                <a:cs typeface="Lato"/>
                <a:sym typeface="Lato"/>
              </a:rPr>
              <a:t> 303 patient cases.</a:t>
            </a:r>
            <a:endParaRPr/>
          </a:p>
        </p:txBody>
      </p:sp>
      <p:sp>
        <p:nvSpPr>
          <p:cNvPr id="140" name="Google Shape;140;p17"/>
          <p:cNvSpPr txBox="1"/>
          <p:nvPr/>
        </p:nvSpPr>
        <p:spPr>
          <a:xfrm>
            <a:off x="1343025" y="3960614"/>
            <a:ext cx="4124325" cy="479821"/>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Features:</a:t>
            </a:r>
            <a:r>
              <a:rPr lang="en-US" sz="1350" b="0" i="0" u="none" strike="noStrike" cap="none">
                <a:solidFill>
                  <a:srgbClr val="334155"/>
                </a:solidFill>
                <a:latin typeface="Lato"/>
                <a:ea typeface="Lato"/>
                <a:cs typeface="Lato"/>
                <a:sym typeface="Lato"/>
              </a:rPr>
              <a:t> 13 key attributes selected (age, sex, chest pain type, cholesterol, etc.).</a:t>
            </a:r>
            <a:endParaRPr/>
          </a:p>
        </p:txBody>
      </p:sp>
      <p:sp>
        <p:nvSpPr>
          <p:cNvPr id="141" name="Google Shape;141;p17"/>
          <p:cNvSpPr txBox="1"/>
          <p:nvPr/>
        </p:nvSpPr>
        <p:spPr>
          <a:xfrm>
            <a:off x="7105650" y="2955131"/>
            <a:ext cx="4124325" cy="479821"/>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Missing Values:</a:t>
            </a:r>
            <a:r>
              <a:rPr lang="en-US" sz="1350" b="0" i="0" u="none" strike="noStrike" cap="none">
                <a:solidFill>
                  <a:srgbClr val="334155"/>
                </a:solidFill>
                <a:latin typeface="Lato"/>
                <a:ea typeface="Lato"/>
                <a:cs typeface="Lato"/>
                <a:sym typeface="Lato"/>
              </a:rPr>
              <a:t> Replaced using the "most frequent" value strategy.</a:t>
            </a:r>
            <a:endParaRPr/>
          </a:p>
        </p:txBody>
      </p:sp>
      <p:sp>
        <p:nvSpPr>
          <p:cNvPr id="142" name="Google Shape;142;p17"/>
          <p:cNvSpPr txBox="1"/>
          <p:nvPr/>
        </p:nvSpPr>
        <p:spPr>
          <a:xfrm>
            <a:off x="7105650" y="3577828"/>
            <a:ext cx="4124325" cy="479821"/>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Encoding:</a:t>
            </a:r>
            <a:r>
              <a:rPr lang="en-US" sz="1350" b="0" i="0" u="none" strike="noStrike" cap="none">
                <a:solidFill>
                  <a:srgbClr val="334155"/>
                </a:solidFill>
                <a:latin typeface="Lato"/>
                <a:ea typeface="Lato"/>
                <a:cs typeface="Lato"/>
                <a:sym typeface="Lato"/>
              </a:rPr>
              <a:t> Categorical features converted to numeric values via label encoder.</a:t>
            </a:r>
            <a:endParaRPr/>
          </a:p>
        </p:txBody>
      </p:sp>
      <p:sp>
        <p:nvSpPr>
          <p:cNvPr id="143" name="Google Shape;143;p17"/>
          <p:cNvSpPr txBox="1"/>
          <p:nvPr/>
        </p:nvSpPr>
        <p:spPr>
          <a:xfrm>
            <a:off x="7105650" y="4200525"/>
            <a:ext cx="4124325" cy="479821"/>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Feature Scaling:</a:t>
            </a:r>
            <a:r>
              <a:rPr lang="en-US" sz="1350" b="0" i="0" u="none" strike="noStrike" cap="none">
                <a:solidFill>
                  <a:srgbClr val="334155"/>
                </a:solidFill>
                <a:latin typeface="Lato"/>
                <a:ea typeface="Lato"/>
                <a:cs typeface="Lato"/>
                <a:sym typeface="Lato"/>
              </a:rPr>
              <a:t> Standardization (z-score) and min-max normalization were used.</a:t>
            </a:r>
            <a:endParaRPr/>
          </a:p>
        </p:txBody>
      </p:sp>
      <p:sp>
        <p:nvSpPr>
          <p:cNvPr id="144" name="Google Shape;144;p17"/>
          <p:cNvSpPr txBox="1"/>
          <p:nvPr/>
        </p:nvSpPr>
        <p:spPr>
          <a:xfrm>
            <a:off x="7105650" y="4823221"/>
            <a:ext cx="4124325" cy="479821"/>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Splitting:</a:t>
            </a:r>
            <a:r>
              <a:rPr lang="en-US" sz="1350" b="0" i="0" u="none" strike="noStrike" cap="none">
                <a:solidFill>
                  <a:srgbClr val="334155"/>
                </a:solidFill>
                <a:latin typeface="Lato"/>
                <a:ea typeface="Lato"/>
                <a:cs typeface="Lato"/>
                <a:sym typeface="Lato"/>
              </a:rPr>
              <a:t> 70:30 and 80:20 train/test ratios were used to evaluate performance.</a:t>
            </a:r>
            <a:endParaRPr/>
          </a:p>
        </p:txBody>
      </p:sp>
      <p:sp>
        <p:nvSpPr>
          <p:cNvPr id="145" name="Google Shape;145;p17"/>
          <p:cNvSpPr txBox="1"/>
          <p:nvPr/>
        </p:nvSpPr>
        <p:spPr>
          <a:xfrm>
            <a:off x="1057275" y="2974181"/>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46" name="Google Shape;146;p17"/>
          <p:cNvSpPr txBox="1"/>
          <p:nvPr/>
        </p:nvSpPr>
        <p:spPr>
          <a:xfrm>
            <a:off x="1057275" y="3596878"/>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47" name="Google Shape;147;p17"/>
          <p:cNvSpPr txBox="1"/>
          <p:nvPr/>
        </p:nvSpPr>
        <p:spPr>
          <a:xfrm>
            <a:off x="1057275" y="3979664"/>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48" name="Google Shape;148;p17"/>
          <p:cNvSpPr txBox="1"/>
          <p:nvPr/>
        </p:nvSpPr>
        <p:spPr>
          <a:xfrm>
            <a:off x="6819900" y="2974181"/>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49" name="Google Shape;149;p17"/>
          <p:cNvSpPr txBox="1"/>
          <p:nvPr/>
        </p:nvSpPr>
        <p:spPr>
          <a:xfrm>
            <a:off x="6819900" y="3596878"/>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50" name="Google Shape;150;p17"/>
          <p:cNvSpPr txBox="1"/>
          <p:nvPr/>
        </p:nvSpPr>
        <p:spPr>
          <a:xfrm>
            <a:off x="6819900" y="4219575"/>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51" name="Google Shape;151;p17"/>
          <p:cNvSpPr txBox="1"/>
          <p:nvPr/>
        </p:nvSpPr>
        <p:spPr>
          <a:xfrm>
            <a:off x="6819900" y="4842271"/>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52" name="Google Shape;152;p17"/>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E293B"/>
                </a:solidFill>
                <a:latin typeface="Poppins"/>
                <a:ea typeface="Poppins"/>
                <a:cs typeface="Poppins"/>
                <a:sym typeface="Poppins"/>
              </a:rPr>
              <a:t>Data &amp; Pre-processing</a:t>
            </a:r>
            <a:endParaRPr/>
          </a:p>
        </p:txBody>
      </p:sp>
      <p:pic>
        <p:nvPicPr>
          <p:cNvPr id="153" name="Google Shape;153;p17" title="Screenshot 2025-11-10 at 3.43.34 PM.png"/>
          <p:cNvPicPr preferRelativeResize="0"/>
          <p:nvPr/>
        </p:nvPicPr>
        <p:blipFill>
          <a:blip r:embed="rId6">
            <a:alphaModFix/>
          </a:blip>
          <a:stretch>
            <a:fillRect/>
          </a:stretch>
        </p:blipFill>
        <p:spPr>
          <a:xfrm>
            <a:off x="6085200" y="327425"/>
            <a:ext cx="5802400" cy="6236849"/>
          </a:xfrm>
          <a:prstGeom prst="rect">
            <a:avLst/>
          </a:prstGeom>
          <a:noFill/>
          <a:ln>
            <a:noFill/>
          </a:ln>
        </p:spPr>
      </p:pic>
      <p:sp>
        <p:nvSpPr>
          <p:cNvPr id="3" name="Slide Number Placeholder 2">
            <a:extLst>
              <a:ext uri="{FF2B5EF4-FFF2-40B4-BE49-F238E27FC236}">
                <a16:creationId xmlns:a16="http://schemas.microsoft.com/office/drawing/2014/main" id="{BC3E1492-7A03-3CB1-37F4-F477CD80F6F5}"/>
              </a:ext>
            </a:extLst>
          </p:cNvPr>
          <p:cNvSpPr>
            <a:spLocks noGrp="1"/>
          </p:cNvSpPr>
          <p:nvPr>
            <p:ph type="sldNum" idx="12"/>
          </p:nvPr>
        </p:nvSpPr>
        <p:spPr>
          <a:xfrm>
            <a:off x="-1829200" y="6381711"/>
            <a:ext cx="2133600" cy="365125"/>
          </a:xfrm>
        </p:spPr>
        <p:txBody>
          <a:bodyPr/>
          <a:lstStyle/>
          <a:p>
            <a:pPr marL="0" lvl="0" indent="0" algn="r" rtl="0">
              <a:spcBef>
                <a:spcPts val="0"/>
              </a:spcBef>
              <a:spcAft>
                <a:spcPts val="0"/>
              </a:spcAft>
              <a:buNone/>
            </a:pPr>
            <a:fld id="{00000000-1234-1234-1234-123412341234}" type="slidenum">
              <a:rPr lang="en-US" smtClean="0"/>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7"/>
        <p:cNvGrpSpPr/>
        <p:nvPr/>
      </p:nvGrpSpPr>
      <p:grpSpPr>
        <a:xfrm>
          <a:off x="0" y="0"/>
          <a:ext cx="0" cy="0"/>
          <a:chOff x="0" y="0"/>
          <a:chExt cx="0" cy="0"/>
        </a:xfrm>
      </p:grpSpPr>
      <p:pic>
        <p:nvPicPr>
          <p:cNvPr id="158" name="Google Shape;158;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9" name="Google Shape;159;p18" descr="image.png"/>
          <p:cNvPicPr preferRelativeResize="0"/>
          <p:nvPr/>
        </p:nvPicPr>
        <p:blipFill rotWithShape="1">
          <a:blip r:embed="rId4">
            <a:alphaModFix/>
          </a:blip>
          <a:srcRect/>
          <a:stretch/>
        </p:blipFill>
        <p:spPr>
          <a:xfrm>
            <a:off x="571500" y="1974056"/>
            <a:ext cx="5286375" cy="3862387"/>
          </a:xfrm>
          <a:prstGeom prst="rect">
            <a:avLst/>
          </a:prstGeom>
          <a:noFill/>
          <a:ln>
            <a:noFill/>
          </a:ln>
        </p:spPr>
      </p:pic>
      <p:pic>
        <p:nvPicPr>
          <p:cNvPr id="160" name="Google Shape;160;p18" descr="image.png"/>
          <p:cNvPicPr preferRelativeResize="0"/>
          <p:nvPr/>
        </p:nvPicPr>
        <p:blipFill rotWithShape="1">
          <a:blip r:embed="rId5">
            <a:alphaModFix/>
          </a:blip>
          <a:srcRect/>
          <a:stretch/>
        </p:blipFill>
        <p:spPr>
          <a:xfrm>
            <a:off x="6521423" y="1974056"/>
            <a:ext cx="5286375" cy="3862387"/>
          </a:xfrm>
          <a:prstGeom prst="rect">
            <a:avLst/>
          </a:prstGeom>
          <a:noFill/>
          <a:ln>
            <a:noFill/>
          </a:ln>
        </p:spPr>
      </p:pic>
      <p:sp>
        <p:nvSpPr>
          <p:cNvPr id="161" name="Google Shape;161;p18"/>
          <p:cNvSpPr txBox="1"/>
          <p:nvPr/>
        </p:nvSpPr>
        <p:spPr>
          <a:xfrm>
            <a:off x="962025" y="2364581"/>
            <a:ext cx="47307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The Dataset: Cleveland UCI</a:t>
            </a:r>
            <a:endParaRPr/>
          </a:p>
        </p:txBody>
      </p:sp>
      <p:sp>
        <p:nvSpPr>
          <p:cNvPr id="162" name="Google Shape;162;p18"/>
          <p:cNvSpPr txBox="1"/>
          <p:nvPr/>
        </p:nvSpPr>
        <p:spPr>
          <a:xfrm>
            <a:off x="6724650" y="2364581"/>
            <a:ext cx="47307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Pre-processing Pipeline</a:t>
            </a:r>
            <a:endParaRPr/>
          </a:p>
        </p:txBody>
      </p:sp>
      <p:sp>
        <p:nvSpPr>
          <p:cNvPr id="163" name="Google Shape;163;p18"/>
          <p:cNvSpPr txBox="1"/>
          <p:nvPr/>
        </p:nvSpPr>
        <p:spPr>
          <a:xfrm>
            <a:off x="1343025" y="2955131"/>
            <a:ext cx="4124400" cy="49860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Source:</a:t>
            </a:r>
            <a:r>
              <a:rPr lang="en-US" sz="1350" b="0" i="0" u="none" strike="noStrike" cap="none">
                <a:solidFill>
                  <a:srgbClr val="334155"/>
                </a:solidFill>
                <a:latin typeface="Lato"/>
                <a:ea typeface="Lato"/>
                <a:cs typeface="Lato"/>
                <a:sym typeface="Lato"/>
              </a:rPr>
              <a:t> Cleveland Heart Disease dataset from the UCI Repository.</a:t>
            </a:r>
            <a:endParaRPr/>
          </a:p>
        </p:txBody>
      </p:sp>
      <p:sp>
        <p:nvSpPr>
          <p:cNvPr id="164" name="Google Shape;164;p18"/>
          <p:cNvSpPr txBox="1"/>
          <p:nvPr/>
        </p:nvSpPr>
        <p:spPr>
          <a:xfrm>
            <a:off x="1343025" y="3577828"/>
            <a:ext cx="4124400" cy="20790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Size:</a:t>
            </a:r>
            <a:r>
              <a:rPr lang="en-US" sz="1350" b="0" i="0" u="none" strike="noStrike" cap="none">
                <a:solidFill>
                  <a:srgbClr val="334155"/>
                </a:solidFill>
                <a:latin typeface="Lato"/>
                <a:ea typeface="Lato"/>
                <a:cs typeface="Lato"/>
                <a:sym typeface="Lato"/>
              </a:rPr>
              <a:t> 303 patient cases.</a:t>
            </a:r>
            <a:endParaRPr/>
          </a:p>
        </p:txBody>
      </p:sp>
      <p:sp>
        <p:nvSpPr>
          <p:cNvPr id="165" name="Google Shape;165;p18"/>
          <p:cNvSpPr txBox="1"/>
          <p:nvPr/>
        </p:nvSpPr>
        <p:spPr>
          <a:xfrm>
            <a:off x="1343025" y="3960614"/>
            <a:ext cx="4124400" cy="49860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Features:</a:t>
            </a:r>
            <a:r>
              <a:rPr lang="en-US" sz="1350" b="0" i="0" u="none" strike="noStrike" cap="none">
                <a:solidFill>
                  <a:srgbClr val="334155"/>
                </a:solidFill>
                <a:latin typeface="Lato"/>
                <a:ea typeface="Lato"/>
                <a:cs typeface="Lato"/>
                <a:sym typeface="Lato"/>
              </a:rPr>
              <a:t> 13 key attributes selected (age, sex, chest pain type, cholesterol, etc.).</a:t>
            </a:r>
            <a:endParaRPr/>
          </a:p>
        </p:txBody>
      </p:sp>
      <p:sp>
        <p:nvSpPr>
          <p:cNvPr id="166" name="Google Shape;166;p18"/>
          <p:cNvSpPr txBox="1"/>
          <p:nvPr/>
        </p:nvSpPr>
        <p:spPr>
          <a:xfrm>
            <a:off x="7105650" y="2955131"/>
            <a:ext cx="4124400" cy="49860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Missing Values:</a:t>
            </a:r>
            <a:r>
              <a:rPr lang="en-US" sz="1350" b="0" i="0" u="none" strike="noStrike" cap="none">
                <a:solidFill>
                  <a:srgbClr val="334155"/>
                </a:solidFill>
                <a:latin typeface="Lato"/>
                <a:ea typeface="Lato"/>
                <a:cs typeface="Lato"/>
                <a:sym typeface="Lato"/>
              </a:rPr>
              <a:t> Replaced using the "most frequent" value strategy.</a:t>
            </a:r>
            <a:endParaRPr/>
          </a:p>
        </p:txBody>
      </p:sp>
      <p:sp>
        <p:nvSpPr>
          <p:cNvPr id="167" name="Google Shape;167;p18"/>
          <p:cNvSpPr txBox="1"/>
          <p:nvPr/>
        </p:nvSpPr>
        <p:spPr>
          <a:xfrm>
            <a:off x="7105650" y="3577828"/>
            <a:ext cx="4124400" cy="49860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Encoding:</a:t>
            </a:r>
            <a:r>
              <a:rPr lang="en-US" sz="1350" b="0" i="0" u="none" strike="noStrike" cap="none">
                <a:solidFill>
                  <a:srgbClr val="334155"/>
                </a:solidFill>
                <a:latin typeface="Lato"/>
                <a:ea typeface="Lato"/>
                <a:cs typeface="Lato"/>
                <a:sym typeface="Lato"/>
              </a:rPr>
              <a:t> Categorical features converted to numeric values via label encoder.</a:t>
            </a:r>
            <a:endParaRPr/>
          </a:p>
        </p:txBody>
      </p:sp>
      <p:sp>
        <p:nvSpPr>
          <p:cNvPr id="168" name="Google Shape;168;p18"/>
          <p:cNvSpPr txBox="1"/>
          <p:nvPr/>
        </p:nvSpPr>
        <p:spPr>
          <a:xfrm>
            <a:off x="7105650" y="4200525"/>
            <a:ext cx="4124400" cy="49860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Feature Scaling:</a:t>
            </a:r>
            <a:r>
              <a:rPr lang="en-US" sz="1350" b="0" i="0" u="none" strike="noStrike" cap="none">
                <a:solidFill>
                  <a:srgbClr val="334155"/>
                </a:solidFill>
                <a:latin typeface="Lato"/>
                <a:ea typeface="Lato"/>
                <a:cs typeface="Lato"/>
                <a:sym typeface="Lato"/>
              </a:rPr>
              <a:t> Standardization (z-score) and min-max normalization were used.</a:t>
            </a:r>
            <a:endParaRPr/>
          </a:p>
        </p:txBody>
      </p:sp>
      <p:sp>
        <p:nvSpPr>
          <p:cNvPr id="169" name="Google Shape;169;p18"/>
          <p:cNvSpPr txBox="1"/>
          <p:nvPr/>
        </p:nvSpPr>
        <p:spPr>
          <a:xfrm>
            <a:off x="7105650" y="4823221"/>
            <a:ext cx="4124400" cy="49860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Splitting:</a:t>
            </a:r>
            <a:r>
              <a:rPr lang="en-US" sz="1350" b="0" i="0" u="none" strike="noStrike" cap="none">
                <a:solidFill>
                  <a:srgbClr val="334155"/>
                </a:solidFill>
                <a:latin typeface="Lato"/>
                <a:ea typeface="Lato"/>
                <a:cs typeface="Lato"/>
                <a:sym typeface="Lato"/>
              </a:rPr>
              <a:t> 70:30 and 80:20 train/test ratios were used to evaluate performance.</a:t>
            </a:r>
            <a:endParaRPr/>
          </a:p>
        </p:txBody>
      </p:sp>
      <p:sp>
        <p:nvSpPr>
          <p:cNvPr id="170" name="Google Shape;170;p18"/>
          <p:cNvSpPr txBox="1"/>
          <p:nvPr/>
        </p:nvSpPr>
        <p:spPr>
          <a:xfrm>
            <a:off x="1057275" y="2974181"/>
            <a:ext cx="95400" cy="1848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71" name="Google Shape;171;p18"/>
          <p:cNvSpPr txBox="1"/>
          <p:nvPr/>
        </p:nvSpPr>
        <p:spPr>
          <a:xfrm>
            <a:off x="1057275" y="3596878"/>
            <a:ext cx="95400" cy="1848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72" name="Google Shape;172;p18"/>
          <p:cNvSpPr txBox="1"/>
          <p:nvPr/>
        </p:nvSpPr>
        <p:spPr>
          <a:xfrm>
            <a:off x="1057275" y="3979664"/>
            <a:ext cx="95400" cy="1848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73" name="Google Shape;173;p18"/>
          <p:cNvSpPr txBox="1"/>
          <p:nvPr/>
        </p:nvSpPr>
        <p:spPr>
          <a:xfrm>
            <a:off x="6819900" y="2974181"/>
            <a:ext cx="95400" cy="1848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74" name="Google Shape;174;p18"/>
          <p:cNvSpPr txBox="1"/>
          <p:nvPr/>
        </p:nvSpPr>
        <p:spPr>
          <a:xfrm>
            <a:off x="6819900" y="3596878"/>
            <a:ext cx="95400" cy="1848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75" name="Google Shape;175;p18"/>
          <p:cNvSpPr txBox="1"/>
          <p:nvPr/>
        </p:nvSpPr>
        <p:spPr>
          <a:xfrm>
            <a:off x="6819900" y="4219575"/>
            <a:ext cx="95400" cy="1848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76" name="Google Shape;176;p18"/>
          <p:cNvSpPr txBox="1"/>
          <p:nvPr/>
        </p:nvSpPr>
        <p:spPr>
          <a:xfrm>
            <a:off x="6819900" y="4842271"/>
            <a:ext cx="95400" cy="1848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77" name="Google Shape;177;p18"/>
          <p:cNvSpPr txBox="1"/>
          <p:nvPr/>
        </p:nvSpPr>
        <p:spPr>
          <a:xfrm>
            <a:off x="571500" y="571500"/>
            <a:ext cx="11601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E293B"/>
                </a:solidFill>
                <a:latin typeface="Poppins"/>
                <a:ea typeface="Poppins"/>
                <a:cs typeface="Poppins"/>
                <a:sym typeface="Poppins"/>
              </a:rPr>
              <a:t>Data &amp; Pre-processing</a:t>
            </a:r>
            <a:endParaRPr/>
          </a:p>
        </p:txBody>
      </p:sp>
      <p:pic>
        <p:nvPicPr>
          <p:cNvPr id="178" name="Google Shape;178;p18" title="Screenshot 2025-11-10 at 2.30.41 PM.png"/>
          <p:cNvPicPr preferRelativeResize="0"/>
          <p:nvPr/>
        </p:nvPicPr>
        <p:blipFill>
          <a:blip r:embed="rId6">
            <a:alphaModFix/>
          </a:blip>
          <a:stretch>
            <a:fillRect/>
          </a:stretch>
        </p:blipFill>
        <p:spPr>
          <a:xfrm>
            <a:off x="101174" y="1505850"/>
            <a:ext cx="6016849" cy="4930700"/>
          </a:xfrm>
          <a:prstGeom prst="rect">
            <a:avLst/>
          </a:prstGeom>
          <a:noFill/>
          <a:ln>
            <a:noFill/>
          </a:ln>
        </p:spPr>
      </p:pic>
      <p:sp>
        <p:nvSpPr>
          <p:cNvPr id="3" name="Slide Number Placeholder 2">
            <a:extLst>
              <a:ext uri="{FF2B5EF4-FFF2-40B4-BE49-F238E27FC236}">
                <a16:creationId xmlns:a16="http://schemas.microsoft.com/office/drawing/2014/main" id="{1DC7F414-9C21-2E46-3256-53FFBC3F1C1D}"/>
              </a:ext>
            </a:extLst>
          </p:cNvPr>
          <p:cNvSpPr>
            <a:spLocks noGrp="1"/>
          </p:cNvSpPr>
          <p:nvPr>
            <p:ph type="sldNum" idx="12"/>
          </p:nvPr>
        </p:nvSpPr>
        <p:spPr>
          <a:xfrm>
            <a:off x="9957226" y="6356525"/>
            <a:ext cx="2133600" cy="365125"/>
          </a:xfrm>
        </p:spPr>
        <p:txBody>
          <a:bodyPr/>
          <a:lstStyle/>
          <a:p>
            <a:pPr marL="0" lvl="0" indent="0" algn="r" rtl="0">
              <a:spcBef>
                <a:spcPts val="0"/>
              </a:spcBef>
              <a:spcAft>
                <a:spcPts val="0"/>
              </a:spcAft>
              <a:buNone/>
            </a:pPr>
            <a:fld id="{00000000-1234-1234-1234-123412341234}" type="slidenum">
              <a:rPr lang="en-US" smtClean="0"/>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2"/>
        <p:cNvGrpSpPr/>
        <p:nvPr/>
      </p:nvGrpSpPr>
      <p:grpSpPr>
        <a:xfrm>
          <a:off x="0" y="0"/>
          <a:ext cx="0" cy="0"/>
          <a:chOff x="0" y="0"/>
          <a:chExt cx="0" cy="0"/>
        </a:xfrm>
      </p:grpSpPr>
      <p:pic>
        <p:nvPicPr>
          <p:cNvPr id="183" name="Google Shape;183;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4" name="Google Shape;184;p19" descr="image.png"/>
          <p:cNvPicPr preferRelativeResize="0"/>
          <p:nvPr/>
        </p:nvPicPr>
        <p:blipFill rotWithShape="1">
          <a:blip r:embed="rId4">
            <a:alphaModFix/>
          </a:blip>
          <a:srcRect/>
          <a:stretch/>
        </p:blipFill>
        <p:spPr>
          <a:xfrm>
            <a:off x="571500" y="2264271"/>
            <a:ext cx="5286375" cy="3281957"/>
          </a:xfrm>
          <a:prstGeom prst="rect">
            <a:avLst/>
          </a:prstGeom>
          <a:noFill/>
          <a:ln>
            <a:noFill/>
          </a:ln>
        </p:spPr>
      </p:pic>
      <p:pic>
        <p:nvPicPr>
          <p:cNvPr id="185" name="Google Shape;185;p19" descr="image.png"/>
          <p:cNvPicPr preferRelativeResize="0"/>
          <p:nvPr/>
        </p:nvPicPr>
        <p:blipFill rotWithShape="1">
          <a:blip r:embed="rId5">
            <a:alphaModFix/>
          </a:blip>
          <a:srcRect/>
          <a:stretch/>
        </p:blipFill>
        <p:spPr>
          <a:xfrm>
            <a:off x="6334125" y="2264271"/>
            <a:ext cx="5286375" cy="3281957"/>
          </a:xfrm>
          <a:prstGeom prst="rect">
            <a:avLst/>
          </a:prstGeom>
          <a:noFill/>
          <a:ln>
            <a:noFill/>
          </a:ln>
        </p:spPr>
      </p:pic>
      <p:sp>
        <p:nvSpPr>
          <p:cNvPr id="186" name="Google Shape;186;p19"/>
          <p:cNvSpPr txBox="1"/>
          <p:nvPr/>
        </p:nvSpPr>
        <p:spPr>
          <a:xfrm>
            <a:off x="962025" y="2654796"/>
            <a:ext cx="4730591"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Standard &amp; Neural Models</a:t>
            </a:r>
            <a:endParaRPr/>
          </a:p>
        </p:txBody>
      </p:sp>
      <p:sp>
        <p:nvSpPr>
          <p:cNvPr id="187" name="Google Shape;187;p19"/>
          <p:cNvSpPr txBox="1"/>
          <p:nvPr/>
        </p:nvSpPr>
        <p:spPr>
          <a:xfrm>
            <a:off x="962025" y="3245346"/>
            <a:ext cx="450532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334155"/>
                </a:solidFill>
                <a:latin typeface="Lato"/>
                <a:ea typeface="Lato"/>
                <a:cs typeface="Lato"/>
                <a:sym typeface="Lato"/>
              </a:rPr>
              <a:t>Six individual models were trained and tuned to serve as baselines:</a:t>
            </a:r>
            <a:endParaRPr/>
          </a:p>
        </p:txBody>
      </p:sp>
      <p:sp>
        <p:nvSpPr>
          <p:cNvPr id="188" name="Google Shape;188;p19"/>
          <p:cNvSpPr txBox="1"/>
          <p:nvPr/>
        </p:nvSpPr>
        <p:spPr>
          <a:xfrm>
            <a:off x="6724650" y="2654796"/>
            <a:ext cx="4730591"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Ensemble Models</a:t>
            </a:r>
            <a:endParaRPr/>
          </a:p>
        </p:txBody>
      </p:sp>
      <p:sp>
        <p:nvSpPr>
          <p:cNvPr id="189" name="Google Shape;189;p19"/>
          <p:cNvSpPr txBox="1"/>
          <p:nvPr/>
        </p:nvSpPr>
        <p:spPr>
          <a:xfrm>
            <a:off x="6724650" y="3245346"/>
            <a:ext cx="450532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334155"/>
                </a:solidFill>
                <a:latin typeface="Lato"/>
                <a:ea typeface="Lato"/>
                <a:cs typeface="Lato"/>
                <a:sym typeface="Lato"/>
              </a:rPr>
              <a:t>Standard tree-based and boosting ensemble methods were also tested:</a:t>
            </a:r>
            <a:endParaRPr/>
          </a:p>
        </p:txBody>
      </p:sp>
      <p:sp>
        <p:nvSpPr>
          <p:cNvPr id="190" name="Google Shape;190;p19"/>
          <p:cNvSpPr txBox="1"/>
          <p:nvPr/>
        </p:nvSpPr>
        <p:spPr>
          <a:xfrm>
            <a:off x="1343025" y="4007346"/>
            <a:ext cx="4124325" cy="23991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Lato"/>
                <a:ea typeface="Lato"/>
                <a:cs typeface="Lato"/>
                <a:sym typeface="Lato"/>
              </a:rPr>
              <a:t>Artificial Neural Network (ANN)</a:t>
            </a:r>
            <a:endParaRPr/>
          </a:p>
        </p:txBody>
      </p:sp>
      <p:sp>
        <p:nvSpPr>
          <p:cNvPr id="191" name="Google Shape;191;p19"/>
          <p:cNvSpPr txBox="1"/>
          <p:nvPr/>
        </p:nvSpPr>
        <p:spPr>
          <a:xfrm>
            <a:off x="1343025" y="4390132"/>
            <a:ext cx="4124325" cy="23991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Lato"/>
                <a:ea typeface="Lato"/>
                <a:cs typeface="Lato"/>
                <a:sym typeface="Lato"/>
              </a:rPr>
              <a:t>Support Vector Machine (SVM)</a:t>
            </a:r>
            <a:endParaRPr/>
          </a:p>
        </p:txBody>
      </p:sp>
      <p:sp>
        <p:nvSpPr>
          <p:cNvPr id="192" name="Google Shape;192;p19"/>
          <p:cNvSpPr txBox="1"/>
          <p:nvPr/>
        </p:nvSpPr>
        <p:spPr>
          <a:xfrm>
            <a:off x="1343025" y="4772917"/>
            <a:ext cx="4124325" cy="23991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Lato"/>
                <a:ea typeface="Lato"/>
                <a:cs typeface="Lato"/>
                <a:sym typeface="Lato"/>
              </a:rPr>
              <a:t>Logistic Regression (LR)</a:t>
            </a:r>
            <a:endParaRPr/>
          </a:p>
        </p:txBody>
      </p:sp>
      <p:sp>
        <p:nvSpPr>
          <p:cNvPr id="193" name="Google Shape;193;p19"/>
          <p:cNvSpPr txBox="1"/>
          <p:nvPr/>
        </p:nvSpPr>
        <p:spPr>
          <a:xfrm>
            <a:off x="7105650" y="4007346"/>
            <a:ext cx="4124325" cy="23991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Lato"/>
                <a:ea typeface="Lato"/>
                <a:cs typeface="Lato"/>
                <a:sym typeface="Lato"/>
              </a:rPr>
              <a:t>Decision Tree (DT)</a:t>
            </a:r>
            <a:endParaRPr/>
          </a:p>
        </p:txBody>
      </p:sp>
      <p:sp>
        <p:nvSpPr>
          <p:cNvPr id="194" name="Google Shape;194;p19"/>
          <p:cNvSpPr txBox="1"/>
          <p:nvPr/>
        </p:nvSpPr>
        <p:spPr>
          <a:xfrm>
            <a:off x="7105650" y="4390132"/>
            <a:ext cx="4124325" cy="23991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Lato"/>
                <a:ea typeface="Lato"/>
                <a:cs typeface="Lato"/>
                <a:sym typeface="Lato"/>
              </a:rPr>
              <a:t>Random Forest (RF)</a:t>
            </a:r>
            <a:endParaRPr/>
          </a:p>
        </p:txBody>
      </p:sp>
      <p:sp>
        <p:nvSpPr>
          <p:cNvPr id="195" name="Google Shape;195;p19"/>
          <p:cNvSpPr txBox="1"/>
          <p:nvPr/>
        </p:nvSpPr>
        <p:spPr>
          <a:xfrm>
            <a:off x="7105650" y="4772917"/>
            <a:ext cx="4124325" cy="23991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Lato"/>
                <a:ea typeface="Lato"/>
                <a:cs typeface="Lato"/>
                <a:sym typeface="Lato"/>
              </a:rPr>
              <a:t>AdaBoost (ADA)</a:t>
            </a:r>
            <a:endParaRPr/>
          </a:p>
        </p:txBody>
      </p:sp>
      <p:sp>
        <p:nvSpPr>
          <p:cNvPr id="196" name="Google Shape;196;p19"/>
          <p:cNvSpPr txBox="1"/>
          <p:nvPr/>
        </p:nvSpPr>
        <p:spPr>
          <a:xfrm>
            <a:off x="1057275" y="4026396"/>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97" name="Google Shape;197;p19"/>
          <p:cNvSpPr txBox="1"/>
          <p:nvPr/>
        </p:nvSpPr>
        <p:spPr>
          <a:xfrm>
            <a:off x="1057275" y="4409182"/>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98" name="Google Shape;198;p19"/>
          <p:cNvSpPr txBox="1"/>
          <p:nvPr/>
        </p:nvSpPr>
        <p:spPr>
          <a:xfrm>
            <a:off x="1057275" y="4791967"/>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199" name="Google Shape;199;p19"/>
          <p:cNvSpPr txBox="1"/>
          <p:nvPr/>
        </p:nvSpPr>
        <p:spPr>
          <a:xfrm>
            <a:off x="6819900" y="4026396"/>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200" name="Google Shape;200;p19"/>
          <p:cNvSpPr txBox="1"/>
          <p:nvPr/>
        </p:nvSpPr>
        <p:spPr>
          <a:xfrm>
            <a:off x="6819900" y="4409182"/>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201" name="Google Shape;201;p19"/>
          <p:cNvSpPr txBox="1"/>
          <p:nvPr/>
        </p:nvSpPr>
        <p:spPr>
          <a:xfrm>
            <a:off x="6819900" y="4791967"/>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202" name="Google Shape;202;p19"/>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E293B"/>
                </a:solidFill>
                <a:latin typeface="Poppins"/>
                <a:ea typeface="Poppins"/>
                <a:cs typeface="Poppins"/>
                <a:sym typeface="Poppins"/>
              </a:rPr>
              <a:t>Methodology I: The Baseline Models</a:t>
            </a:r>
            <a:endParaRPr/>
          </a:p>
        </p:txBody>
      </p:sp>
      <p:sp>
        <p:nvSpPr>
          <p:cNvPr id="3" name="Slide Number Placeholder 2">
            <a:extLst>
              <a:ext uri="{FF2B5EF4-FFF2-40B4-BE49-F238E27FC236}">
                <a16:creationId xmlns:a16="http://schemas.microsoft.com/office/drawing/2014/main" id="{60688AD2-0858-5BE5-D5C3-88D6343F3D7E}"/>
              </a:ext>
            </a:extLst>
          </p:cNvPr>
          <p:cNvSpPr>
            <a:spLocks noGrp="1"/>
          </p:cNvSpPr>
          <p:nvPr>
            <p:ph type="sldNum" idx="12"/>
          </p:nvPr>
        </p:nvSpPr>
        <p:spPr>
          <a:xfrm>
            <a:off x="-1845212" y="6342282"/>
            <a:ext cx="2133600" cy="365125"/>
          </a:xfrm>
        </p:spPr>
        <p:txBody>
          <a:bodyPr/>
          <a:lstStyle/>
          <a:p>
            <a:pPr marL="0" lvl="0" indent="0" algn="r" rtl="0">
              <a:spcBef>
                <a:spcPts val="0"/>
              </a:spcBef>
              <a:spcAft>
                <a:spcPts val="0"/>
              </a:spcAft>
              <a:buNone/>
            </a:pPr>
            <a:fld id="{00000000-1234-1234-1234-123412341234}" type="slidenum">
              <a:rPr lang="en-US" smtClean="0"/>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6"/>
        <p:cNvGrpSpPr/>
        <p:nvPr/>
      </p:nvGrpSpPr>
      <p:grpSpPr>
        <a:xfrm>
          <a:off x="0" y="0"/>
          <a:ext cx="0" cy="0"/>
          <a:chOff x="0" y="0"/>
          <a:chExt cx="0" cy="0"/>
        </a:xfrm>
      </p:grpSpPr>
      <p:pic>
        <p:nvPicPr>
          <p:cNvPr id="207" name="Google Shape;207;p20" descr="image.png"/>
          <p:cNvPicPr preferRelativeResize="0"/>
          <p:nvPr/>
        </p:nvPicPr>
        <p:blipFill rotWithShape="1">
          <a:blip r:embed="rId3">
            <a:alphaModFix/>
          </a:blip>
          <a:srcRect/>
          <a:stretch/>
        </p:blipFill>
        <p:spPr>
          <a:xfrm>
            <a:off x="571500" y="3437929"/>
            <a:ext cx="5643562" cy="686395"/>
          </a:xfrm>
          <a:prstGeom prst="rect">
            <a:avLst/>
          </a:prstGeom>
          <a:noFill/>
          <a:ln>
            <a:noFill/>
          </a:ln>
        </p:spPr>
      </p:pic>
      <p:sp>
        <p:nvSpPr>
          <p:cNvPr id="208" name="Google Shape;208;p20"/>
          <p:cNvSpPr txBox="1"/>
          <p:nvPr/>
        </p:nvSpPr>
        <p:spPr>
          <a:xfrm>
            <a:off x="571500" y="1551979"/>
            <a:ext cx="592574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1E293B"/>
                </a:solidFill>
                <a:latin typeface="Poppins"/>
                <a:ea typeface="Poppins"/>
                <a:cs typeface="Poppins"/>
                <a:sym typeface="Poppins"/>
              </a:rPr>
              <a:t>Concept &amp; Formula</a:t>
            </a:r>
            <a:endParaRPr/>
          </a:p>
        </p:txBody>
      </p:sp>
      <p:sp>
        <p:nvSpPr>
          <p:cNvPr id="209" name="Google Shape;209;p20"/>
          <p:cNvSpPr txBox="1"/>
          <p:nvPr/>
        </p:nvSpPr>
        <p:spPr>
          <a:xfrm>
            <a:off x="571500" y="2199679"/>
            <a:ext cx="56436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334155"/>
                </a:solidFill>
                <a:latin typeface="Lato"/>
                <a:ea typeface="Lato"/>
                <a:cs typeface="Lato"/>
                <a:sym typeface="Lato"/>
              </a:rPr>
              <a:t>A "late fusion" approach that takes probabilistic decision scores (D_i) from two models and fuses them.</a:t>
            </a:r>
            <a:endParaRPr/>
          </a:p>
        </p:txBody>
      </p:sp>
      <p:sp>
        <p:nvSpPr>
          <p:cNvPr id="210" name="Google Shape;210;p20"/>
          <p:cNvSpPr txBox="1"/>
          <p:nvPr/>
        </p:nvSpPr>
        <p:spPr>
          <a:xfrm>
            <a:off x="571500" y="2961679"/>
            <a:ext cx="5643562"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4155"/>
                </a:solidFill>
                <a:latin typeface="Lato"/>
                <a:ea typeface="Lato"/>
                <a:cs typeface="Lato"/>
                <a:sym typeface="Lato"/>
              </a:rPr>
              <a:t>The Formula (Weighted Sum Rule):</a:t>
            </a:r>
            <a:endParaRPr/>
          </a:p>
        </p:txBody>
      </p:sp>
      <p:sp>
        <p:nvSpPr>
          <p:cNvPr id="211" name="Google Shape;211;p20"/>
          <p:cNvSpPr txBox="1"/>
          <p:nvPr/>
        </p:nvSpPr>
        <p:spPr>
          <a:xfrm>
            <a:off x="571500" y="4219575"/>
            <a:ext cx="5643600" cy="2079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334155"/>
                </a:solidFill>
                <a:latin typeface="Lato"/>
                <a:ea typeface="Lato"/>
                <a:cs typeface="Lato"/>
                <a:sym typeface="Lato"/>
              </a:rPr>
              <a:t>where W_1 + W_2 = 1</a:t>
            </a:r>
            <a:endParaRPr/>
          </a:p>
        </p:txBody>
      </p:sp>
      <p:sp>
        <p:nvSpPr>
          <p:cNvPr id="212" name="Google Shape;212;p20"/>
          <p:cNvSpPr txBox="1"/>
          <p:nvPr/>
        </p:nvSpPr>
        <p:spPr>
          <a:xfrm>
            <a:off x="6881812" y="1551979"/>
            <a:ext cx="4975621"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1E293B"/>
                </a:solidFill>
                <a:latin typeface="Poppins"/>
                <a:ea typeface="Poppins"/>
                <a:cs typeface="Poppins"/>
                <a:sym typeface="Poppins"/>
              </a:rPr>
              <a:t>The Model Pairings</a:t>
            </a:r>
            <a:endParaRPr/>
          </a:p>
        </p:txBody>
      </p:sp>
      <p:sp>
        <p:nvSpPr>
          <p:cNvPr id="213" name="Google Shape;213;p20"/>
          <p:cNvSpPr txBox="1"/>
          <p:nvPr/>
        </p:nvSpPr>
        <p:spPr>
          <a:xfrm>
            <a:off x="6881812" y="2199679"/>
            <a:ext cx="4738687"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334155"/>
                </a:solidFill>
                <a:latin typeface="Lato"/>
                <a:ea typeface="Lato"/>
                <a:cs typeface="Lato"/>
                <a:sym typeface="Lato"/>
              </a:rPr>
              <a:t>Three distinct fusion models were created for each problem:</a:t>
            </a:r>
            <a:endParaRPr/>
          </a:p>
        </p:txBody>
      </p:sp>
      <p:sp>
        <p:nvSpPr>
          <p:cNvPr id="214" name="Google Shape;214;p20"/>
          <p:cNvSpPr txBox="1"/>
          <p:nvPr/>
        </p:nvSpPr>
        <p:spPr>
          <a:xfrm>
            <a:off x="6881812" y="2961679"/>
            <a:ext cx="4738687"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4155"/>
                </a:solidFill>
                <a:latin typeface="Lato"/>
                <a:ea typeface="Lato"/>
                <a:cs typeface="Lato"/>
                <a:sym typeface="Lato"/>
              </a:rPr>
              <a:t>Multi-Class:</a:t>
            </a:r>
            <a:endParaRPr/>
          </a:p>
        </p:txBody>
      </p:sp>
      <p:sp>
        <p:nvSpPr>
          <p:cNvPr id="215" name="Google Shape;215;p20"/>
          <p:cNvSpPr txBox="1"/>
          <p:nvPr/>
        </p:nvSpPr>
        <p:spPr>
          <a:xfrm>
            <a:off x="6881812" y="4633912"/>
            <a:ext cx="4738687"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4155"/>
                </a:solidFill>
                <a:latin typeface="Lato"/>
                <a:ea typeface="Lato"/>
                <a:cs typeface="Lato"/>
                <a:sym typeface="Lato"/>
              </a:rPr>
              <a:t>Binary:</a:t>
            </a:r>
            <a:endParaRPr/>
          </a:p>
        </p:txBody>
      </p:sp>
      <p:sp>
        <p:nvSpPr>
          <p:cNvPr id="216" name="Google Shape;216;p20"/>
          <p:cNvSpPr txBox="1"/>
          <p:nvPr/>
        </p:nvSpPr>
        <p:spPr>
          <a:xfrm>
            <a:off x="7262812" y="3437929"/>
            <a:ext cx="4357687" cy="23991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Lato"/>
                <a:ea typeface="Lato"/>
                <a:cs typeface="Lato"/>
                <a:sym typeface="Lato"/>
              </a:rPr>
              <a:t>(ANN + SVM)</a:t>
            </a:r>
            <a:endParaRPr/>
          </a:p>
        </p:txBody>
      </p:sp>
      <p:sp>
        <p:nvSpPr>
          <p:cNvPr id="217" name="Google Shape;217;p20"/>
          <p:cNvSpPr txBox="1"/>
          <p:nvPr/>
        </p:nvSpPr>
        <p:spPr>
          <a:xfrm>
            <a:off x="7262812" y="3820715"/>
            <a:ext cx="4357687" cy="23991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Lato"/>
                <a:ea typeface="Lato"/>
                <a:cs typeface="Lato"/>
                <a:sym typeface="Lato"/>
              </a:rPr>
              <a:t>(ANN + LR)</a:t>
            </a:r>
            <a:endParaRPr/>
          </a:p>
        </p:txBody>
      </p:sp>
      <p:sp>
        <p:nvSpPr>
          <p:cNvPr id="218" name="Google Shape;218;p20"/>
          <p:cNvSpPr txBox="1"/>
          <p:nvPr/>
        </p:nvSpPr>
        <p:spPr>
          <a:xfrm>
            <a:off x="7262812" y="4203501"/>
            <a:ext cx="4357687" cy="23991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Lato"/>
                <a:ea typeface="Lato"/>
                <a:cs typeface="Lato"/>
                <a:sym typeface="Lato"/>
              </a:rPr>
              <a:t>(RF + LR)</a:t>
            </a:r>
            <a:endParaRPr/>
          </a:p>
        </p:txBody>
      </p:sp>
      <p:sp>
        <p:nvSpPr>
          <p:cNvPr id="219" name="Google Shape;219;p20"/>
          <p:cNvSpPr txBox="1"/>
          <p:nvPr/>
        </p:nvSpPr>
        <p:spPr>
          <a:xfrm>
            <a:off x="7262812" y="5110162"/>
            <a:ext cx="4357687" cy="23991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Lato"/>
                <a:ea typeface="Lato"/>
                <a:cs typeface="Lato"/>
                <a:sym typeface="Lato"/>
              </a:rPr>
              <a:t>(ADA + DT)</a:t>
            </a:r>
            <a:endParaRPr/>
          </a:p>
        </p:txBody>
      </p:sp>
      <p:sp>
        <p:nvSpPr>
          <p:cNvPr id="220" name="Google Shape;220;p20"/>
          <p:cNvSpPr txBox="1"/>
          <p:nvPr/>
        </p:nvSpPr>
        <p:spPr>
          <a:xfrm>
            <a:off x="7262812" y="5492948"/>
            <a:ext cx="4357687" cy="23991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Lato"/>
                <a:ea typeface="Lato"/>
                <a:cs typeface="Lato"/>
                <a:sym typeface="Lato"/>
              </a:rPr>
              <a:t>(SVM + LR)</a:t>
            </a:r>
            <a:endParaRPr/>
          </a:p>
        </p:txBody>
      </p:sp>
      <p:sp>
        <p:nvSpPr>
          <p:cNvPr id="221" name="Google Shape;221;p20"/>
          <p:cNvSpPr txBox="1"/>
          <p:nvPr/>
        </p:nvSpPr>
        <p:spPr>
          <a:xfrm>
            <a:off x="7262812" y="5875734"/>
            <a:ext cx="4357687" cy="23991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Lato"/>
                <a:ea typeface="Lato"/>
                <a:cs typeface="Lato"/>
                <a:sym typeface="Lato"/>
              </a:rPr>
              <a:t>(ANN + RF)</a:t>
            </a:r>
            <a:endParaRPr/>
          </a:p>
        </p:txBody>
      </p:sp>
      <p:sp>
        <p:nvSpPr>
          <p:cNvPr id="222" name="Google Shape;222;p20"/>
          <p:cNvSpPr txBox="1"/>
          <p:nvPr/>
        </p:nvSpPr>
        <p:spPr>
          <a:xfrm>
            <a:off x="6977062" y="3456979"/>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223" name="Google Shape;223;p20"/>
          <p:cNvSpPr txBox="1"/>
          <p:nvPr/>
        </p:nvSpPr>
        <p:spPr>
          <a:xfrm>
            <a:off x="6977062" y="3839765"/>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224" name="Google Shape;224;p20"/>
          <p:cNvSpPr txBox="1"/>
          <p:nvPr/>
        </p:nvSpPr>
        <p:spPr>
          <a:xfrm>
            <a:off x="6977062" y="4222551"/>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225" name="Google Shape;225;p20"/>
          <p:cNvSpPr txBox="1"/>
          <p:nvPr/>
        </p:nvSpPr>
        <p:spPr>
          <a:xfrm>
            <a:off x="6977062" y="5129212"/>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226" name="Google Shape;226;p20"/>
          <p:cNvSpPr txBox="1"/>
          <p:nvPr/>
        </p:nvSpPr>
        <p:spPr>
          <a:xfrm>
            <a:off x="6977062" y="5511998"/>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227" name="Google Shape;227;p20"/>
          <p:cNvSpPr txBox="1"/>
          <p:nvPr/>
        </p:nvSpPr>
        <p:spPr>
          <a:xfrm>
            <a:off x="6977062" y="5894784"/>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228" name="Google Shape;228;p20"/>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E293B"/>
                </a:solidFill>
                <a:latin typeface="Poppins"/>
                <a:ea typeface="Poppins"/>
                <a:cs typeface="Poppins"/>
                <a:sym typeface="Poppins"/>
              </a:rPr>
              <a:t>Methodology II: The "Weighted Score Fusion"</a:t>
            </a:r>
            <a:endParaRPr/>
          </a:p>
        </p:txBody>
      </p:sp>
      <p:sp>
        <p:nvSpPr>
          <p:cNvPr id="3" name="Slide Number Placeholder 2">
            <a:extLst>
              <a:ext uri="{FF2B5EF4-FFF2-40B4-BE49-F238E27FC236}">
                <a16:creationId xmlns:a16="http://schemas.microsoft.com/office/drawing/2014/main" id="{CD64D3AE-FC08-4837-48C8-D2F6761899C7}"/>
              </a:ext>
            </a:extLst>
          </p:cNvPr>
          <p:cNvSpPr>
            <a:spLocks noGrp="1"/>
          </p:cNvSpPr>
          <p:nvPr>
            <p:ph type="sldNum" idx="12"/>
          </p:nvPr>
        </p:nvSpPr>
        <p:spPr>
          <a:xfrm>
            <a:off x="-1788941" y="6394401"/>
            <a:ext cx="2133600" cy="365125"/>
          </a:xfrm>
        </p:spPr>
        <p:txBody>
          <a:bodyPr/>
          <a:lstStyle/>
          <a:p>
            <a:pPr marL="0" lvl="0" indent="0" algn="r" rtl="0">
              <a:spcBef>
                <a:spcPts val="0"/>
              </a:spcBef>
              <a:spcAft>
                <a:spcPts val="0"/>
              </a:spcAft>
              <a:buNone/>
            </a:pPr>
            <a:fld id="{00000000-1234-1234-1234-123412341234}"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pic>
        <p:nvPicPr>
          <p:cNvPr id="233" name="Google Shape;233;p21" title="Screenshot 2025-11-10 at 3.49.53 PM.png"/>
          <p:cNvPicPr preferRelativeResize="0"/>
          <p:nvPr/>
        </p:nvPicPr>
        <p:blipFill>
          <a:blip r:embed="rId3">
            <a:alphaModFix/>
          </a:blip>
          <a:stretch>
            <a:fillRect/>
          </a:stretch>
        </p:blipFill>
        <p:spPr>
          <a:xfrm>
            <a:off x="152400" y="448876"/>
            <a:ext cx="11887200" cy="5126355"/>
          </a:xfrm>
          <a:prstGeom prst="rect">
            <a:avLst/>
          </a:prstGeom>
          <a:noFill/>
          <a:ln>
            <a:noFill/>
          </a:ln>
        </p:spPr>
      </p:pic>
      <p:sp>
        <p:nvSpPr>
          <p:cNvPr id="234" name="Google Shape;234;p21"/>
          <p:cNvSpPr txBox="1"/>
          <p:nvPr/>
        </p:nvSpPr>
        <p:spPr>
          <a:xfrm>
            <a:off x="472675" y="6003900"/>
            <a:ext cx="11367600" cy="54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chemeClr val="dk1"/>
                </a:solidFill>
              </a:rPr>
              <a:t>The difference between them is that in multi-classification, the output layer contains five nodes, one for the absence of heart disease and the other four for reflecting the severity of the heart disease. On the other hand, the binary classification structure has two nodes for output.</a:t>
            </a:r>
            <a:endParaRPr>
              <a:solidFill>
                <a:schemeClr val="dk1"/>
              </a:solidFill>
              <a:latin typeface="Calibri"/>
              <a:ea typeface="Calibri"/>
              <a:cs typeface="Calibri"/>
              <a:sym typeface="Calibri"/>
            </a:endParaRPr>
          </a:p>
        </p:txBody>
      </p:sp>
      <p:sp>
        <p:nvSpPr>
          <p:cNvPr id="3" name="Slide Number Placeholder 2">
            <a:extLst>
              <a:ext uri="{FF2B5EF4-FFF2-40B4-BE49-F238E27FC236}">
                <a16:creationId xmlns:a16="http://schemas.microsoft.com/office/drawing/2014/main" id="{A0A5A283-95AC-7D83-74C3-DD774B3CC90A}"/>
              </a:ext>
            </a:extLst>
          </p:cNvPr>
          <p:cNvSpPr>
            <a:spLocks noGrp="1"/>
          </p:cNvSpPr>
          <p:nvPr>
            <p:ph type="sldNum" idx="12"/>
          </p:nvPr>
        </p:nvSpPr>
        <p:spPr>
          <a:xfrm>
            <a:off x="-1660925" y="6409124"/>
            <a:ext cx="2133600" cy="365125"/>
          </a:xfrm>
        </p:spPr>
        <p:txBody>
          <a:bodyPr/>
          <a:lstStyle/>
          <a:p>
            <a:pPr marL="0" lvl="0" indent="0" algn="r" rtl="0">
              <a:spcBef>
                <a:spcPts val="0"/>
              </a:spcBef>
              <a:spcAft>
                <a:spcPts val="0"/>
              </a:spcAft>
              <a:buNone/>
            </a:pPr>
            <a:fld id="{00000000-1234-1234-1234-123412341234}"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8"/>
        <p:cNvGrpSpPr/>
        <p:nvPr/>
      </p:nvGrpSpPr>
      <p:grpSpPr>
        <a:xfrm>
          <a:off x="0" y="0"/>
          <a:ext cx="0" cy="0"/>
          <a:chOff x="0" y="0"/>
          <a:chExt cx="0" cy="0"/>
        </a:xfrm>
      </p:grpSpPr>
      <p:pic>
        <p:nvPicPr>
          <p:cNvPr id="239" name="Google Shape;239;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0" name="Google Shape;240;p22"/>
          <p:cNvSpPr txBox="1"/>
          <p:nvPr/>
        </p:nvSpPr>
        <p:spPr>
          <a:xfrm>
            <a:off x="1333500" y="1787566"/>
            <a:ext cx="9525000" cy="231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334155"/>
                </a:solidFill>
                <a:latin typeface="Lato"/>
                <a:ea typeface="Lato"/>
                <a:cs typeface="Lato"/>
                <a:sym typeface="Lato"/>
              </a:rPr>
              <a:t>The authors used a systematic, data-driven approach (Algorithm 1) to find the perfect weights.</a:t>
            </a:r>
            <a:endParaRPr/>
          </a:p>
        </p:txBody>
      </p:sp>
      <p:sp>
        <p:nvSpPr>
          <p:cNvPr id="241" name="Google Shape;241;p22"/>
          <p:cNvSpPr txBox="1"/>
          <p:nvPr/>
        </p:nvSpPr>
        <p:spPr>
          <a:xfrm>
            <a:off x="1714500" y="2436707"/>
            <a:ext cx="9144000" cy="5700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1E293B"/>
                </a:solidFill>
                <a:latin typeface="Lato"/>
                <a:ea typeface="Lato"/>
                <a:cs typeface="Lato"/>
                <a:sym typeface="Lato"/>
              </a:rPr>
              <a:t>The Process:</a:t>
            </a:r>
            <a:r>
              <a:rPr lang="en-US" sz="1425" b="0" i="0" u="none" strike="noStrike" cap="none">
                <a:solidFill>
                  <a:srgbClr val="334155"/>
                </a:solidFill>
                <a:latin typeface="Lato"/>
                <a:ea typeface="Lato"/>
                <a:cs typeface="Lato"/>
                <a:sym typeface="Lato"/>
              </a:rPr>
              <a:t> A loop iterates 19 times, testing all weight combinations from W_1=0.95, W_2=0.05 up to W_1=0.05, W_2=0.95.</a:t>
            </a:r>
            <a:endParaRPr/>
          </a:p>
        </p:txBody>
      </p:sp>
      <p:sp>
        <p:nvSpPr>
          <p:cNvPr id="242" name="Google Shape;242;p22"/>
          <p:cNvSpPr txBox="1"/>
          <p:nvPr/>
        </p:nvSpPr>
        <p:spPr>
          <a:xfrm>
            <a:off x="1714500" y="3142115"/>
            <a:ext cx="9144000" cy="2193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1E293B"/>
                </a:solidFill>
                <a:latin typeface="Lato"/>
                <a:ea typeface="Lato"/>
                <a:cs typeface="Lato"/>
                <a:sym typeface="Lato"/>
              </a:rPr>
              <a:t>The Calculation:</a:t>
            </a:r>
            <a:r>
              <a:rPr lang="en-US" sz="1425" b="0" i="0" u="none" strike="noStrike" cap="none">
                <a:solidFill>
                  <a:srgbClr val="334155"/>
                </a:solidFill>
                <a:latin typeface="Lato"/>
                <a:ea typeface="Lato"/>
                <a:cs typeface="Lato"/>
                <a:sym typeface="Lato"/>
              </a:rPr>
              <a:t> For each combination, the model calculates the final accuracy on the test set.</a:t>
            </a:r>
            <a:endParaRPr/>
          </a:p>
        </p:txBody>
      </p:sp>
      <p:sp>
        <p:nvSpPr>
          <p:cNvPr id="243" name="Google Shape;243;p22"/>
          <p:cNvSpPr txBox="1"/>
          <p:nvPr/>
        </p:nvSpPr>
        <p:spPr>
          <a:xfrm>
            <a:off x="1714500" y="3568297"/>
            <a:ext cx="9144000" cy="5700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1E293B"/>
                </a:solidFill>
                <a:latin typeface="Lato"/>
                <a:ea typeface="Lato"/>
                <a:cs typeface="Lato"/>
                <a:sym typeface="Lato"/>
              </a:rPr>
              <a:t>The Result:</a:t>
            </a:r>
            <a:r>
              <a:rPr lang="en-US" sz="1425" b="0" i="0" u="none" strike="noStrike" cap="none">
                <a:solidFill>
                  <a:srgbClr val="334155"/>
                </a:solidFill>
                <a:latin typeface="Lato"/>
                <a:ea typeface="Lato"/>
                <a:cs typeface="Lato"/>
                <a:sym typeface="Lato"/>
              </a:rPr>
              <a:t> The pair of weights (W_1, W_2) that produced the highest accuracy is selected as the optimal set for that fusion model.</a:t>
            </a:r>
            <a:endParaRPr/>
          </a:p>
        </p:txBody>
      </p:sp>
      <p:pic>
        <p:nvPicPr>
          <p:cNvPr id="244" name="Google Shape;244;p22" descr="image.png"/>
          <p:cNvPicPr preferRelativeResize="0"/>
          <p:nvPr/>
        </p:nvPicPr>
        <p:blipFill rotWithShape="1">
          <a:blip r:embed="rId4">
            <a:alphaModFix/>
          </a:blip>
          <a:srcRect/>
          <a:stretch/>
        </p:blipFill>
        <p:spPr>
          <a:xfrm>
            <a:off x="1333500" y="2570777"/>
            <a:ext cx="238125" cy="228600"/>
          </a:xfrm>
          <a:prstGeom prst="rect">
            <a:avLst/>
          </a:prstGeom>
          <a:noFill/>
          <a:ln>
            <a:noFill/>
          </a:ln>
        </p:spPr>
      </p:pic>
      <p:pic>
        <p:nvPicPr>
          <p:cNvPr id="245" name="Google Shape;245;p22" descr="image.png"/>
          <p:cNvPicPr preferRelativeResize="0"/>
          <p:nvPr/>
        </p:nvPicPr>
        <p:blipFill rotWithShape="1">
          <a:blip r:embed="rId5">
            <a:alphaModFix/>
          </a:blip>
          <a:srcRect/>
          <a:stretch/>
        </p:blipFill>
        <p:spPr>
          <a:xfrm>
            <a:off x="1333500" y="3117382"/>
            <a:ext cx="238125" cy="228600"/>
          </a:xfrm>
          <a:prstGeom prst="rect">
            <a:avLst/>
          </a:prstGeom>
          <a:noFill/>
          <a:ln>
            <a:noFill/>
          </a:ln>
        </p:spPr>
      </p:pic>
      <p:pic>
        <p:nvPicPr>
          <p:cNvPr id="246" name="Google Shape;246;p22" descr="image.png"/>
          <p:cNvPicPr preferRelativeResize="0"/>
          <p:nvPr/>
        </p:nvPicPr>
        <p:blipFill rotWithShape="1">
          <a:blip r:embed="rId6">
            <a:alphaModFix/>
          </a:blip>
          <a:srcRect/>
          <a:stretch/>
        </p:blipFill>
        <p:spPr>
          <a:xfrm>
            <a:off x="1333500" y="3665228"/>
            <a:ext cx="238125" cy="228600"/>
          </a:xfrm>
          <a:prstGeom prst="rect">
            <a:avLst/>
          </a:prstGeom>
          <a:noFill/>
          <a:ln>
            <a:noFill/>
          </a:ln>
        </p:spPr>
      </p:pic>
      <p:sp>
        <p:nvSpPr>
          <p:cNvPr id="247" name="Google Shape;247;p22"/>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E293B"/>
                </a:solidFill>
                <a:latin typeface="Poppins"/>
                <a:ea typeface="Poppins"/>
                <a:cs typeface="Poppins"/>
                <a:sym typeface="Poppins"/>
              </a:rPr>
              <a:t>Methodology III: How to Find the Optimal Weights</a:t>
            </a:r>
            <a:endParaRPr/>
          </a:p>
        </p:txBody>
      </p:sp>
      <p:pic>
        <p:nvPicPr>
          <p:cNvPr id="248" name="Google Shape;248;p22" title="Screenshot 2025-11-10 at 3.38.04 PM.png"/>
          <p:cNvPicPr preferRelativeResize="0"/>
          <p:nvPr/>
        </p:nvPicPr>
        <p:blipFill rotWithShape="1">
          <a:blip r:embed="rId7">
            <a:alphaModFix/>
          </a:blip>
          <a:srcRect b="8517"/>
          <a:stretch/>
        </p:blipFill>
        <p:spPr>
          <a:xfrm>
            <a:off x="3915326" y="4086700"/>
            <a:ext cx="3102525" cy="2520800"/>
          </a:xfrm>
          <a:prstGeom prst="rect">
            <a:avLst/>
          </a:prstGeom>
          <a:noFill/>
          <a:ln>
            <a:noFill/>
          </a:ln>
        </p:spPr>
      </p:pic>
      <p:sp>
        <p:nvSpPr>
          <p:cNvPr id="3" name="Slide Number Placeholder 2">
            <a:extLst>
              <a:ext uri="{FF2B5EF4-FFF2-40B4-BE49-F238E27FC236}">
                <a16:creationId xmlns:a16="http://schemas.microsoft.com/office/drawing/2014/main" id="{799D77B2-D755-64F4-43B5-B6AFD6EB20ED}"/>
              </a:ext>
            </a:extLst>
          </p:cNvPr>
          <p:cNvSpPr>
            <a:spLocks noGrp="1"/>
          </p:cNvSpPr>
          <p:nvPr>
            <p:ph type="sldNum" idx="12"/>
          </p:nvPr>
        </p:nvSpPr>
        <p:spPr>
          <a:xfrm>
            <a:off x="-1803010" y="6424937"/>
            <a:ext cx="2133600" cy="365125"/>
          </a:xfrm>
        </p:spPr>
        <p:txBody>
          <a:bodyPr/>
          <a:lstStyle/>
          <a:p>
            <a:pPr marL="0" lvl="0" indent="0" algn="r" rtl="0">
              <a:spcBef>
                <a:spcPts val="0"/>
              </a:spcBef>
              <a:spcAft>
                <a:spcPts val="0"/>
              </a:spcAft>
              <a:buNone/>
            </a:pPr>
            <a:fld id="{00000000-1234-1234-1234-123412341234}" type="slidenum">
              <a:rPr lang="en-US" smtClean="0"/>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2"/>
        <p:cNvGrpSpPr/>
        <p:nvPr/>
      </p:nvGrpSpPr>
      <p:grpSpPr>
        <a:xfrm>
          <a:off x="0" y="0"/>
          <a:ext cx="0" cy="0"/>
          <a:chOff x="0" y="0"/>
          <a:chExt cx="0" cy="0"/>
        </a:xfrm>
      </p:grpSpPr>
      <p:sp>
        <p:nvSpPr>
          <p:cNvPr id="253" name="Google Shape;253;p23"/>
          <p:cNvSpPr txBox="1"/>
          <p:nvPr/>
        </p:nvSpPr>
        <p:spPr>
          <a:xfrm>
            <a:off x="5876925" y="2438400"/>
            <a:ext cx="6030753"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1E293B"/>
                </a:solidFill>
                <a:latin typeface="Poppins"/>
                <a:ea typeface="Poppins"/>
                <a:cs typeface="Poppins"/>
                <a:sym typeface="Poppins"/>
              </a:rPr>
              <a:t>Clear &amp; Consistent Improvement</a:t>
            </a:r>
            <a:endParaRPr/>
          </a:p>
        </p:txBody>
      </p:sp>
      <p:sp>
        <p:nvSpPr>
          <p:cNvPr id="254" name="Google Shape;254;p23"/>
          <p:cNvSpPr txBox="1"/>
          <p:nvPr/>
        </p:nvSpPr>
        <p:spPr>
          <a:xfrm>
            <a:off x="5876925" y="3086100"/>
            <a:ext cx="5743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4155"/>
                </a:solidFill>
                <a:latin typeface="Lato"/>
                <a:ea typeface="Lato"/>
                <a:cs typeface="Lato"/>
                <a:sym typeface="Lato"/>
              </a:rPr>
              <a:t>Best Models:</a:t>
            </a:r>
            <a:r>
              <a:rPr lang="en-US" sz="1500" b="0" i="0" u="none" strike="noStrike" cap="none">
                <a:solidFill>
                  <a:srgbClr val="334155"/>
                </a:solidFill>
                <a:latin typeface="Lato"/>
                <a:ea typeface="Lato"/>
                <a:cs typeface="Lato"/>
                <a:sym typeface="Lato"/>
              </a:rPr>
              <a:t> Two fusion models tied for the top score: (LR + RF) and (ANN + LR).</a:t>
            </a:r>
            <a:endParaRPr/>
          </a:p>
        </p:txBody>
      </p:sp>
      <p:sp>
        <p:nvSpPr>
          <p:cNvPr id="255" name="Google Shape;255;p23"/>
          <p:cNvSpPr txBox="1"/>
          <p:nvPr/>
        </p:nvSpPr>
        <p:spPr>
          <a:xfrm>
            <a:off x="5876925" y="3848100"/>
            <a:ext cx="57435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4155"/>
                </a:solidFill>
                <a:latin typeface="Lato"/>
                <a:ea typeface="Lato"/>
                <a:cs typeface="Lato"/>
                <a:sym typeface="Lato"/>
              </a:rPr>
              <a:t>The "Lift":</a:t>
            </a:r>
            <a:r>
              <a:rPr lang="en-US" sz="1500" b="0" i="0" u="none" strike="noStrike" cap="none">
                <a:solidFill>
                  <a:srgbClr val="334155"/>
                </a:solidFill>
                <a:latin typeface="Lato"/>
                <a:ea typeface="Lato"/>
                <a:cs typeface="Lato"/>
                <a:sym typeface="Lato"/>
              </a:rPr>
              <a:t> The (LR + RF) model and ( ANN +LR) model (75.41%) achieved a </a:t>
            </a:r>
            <a:r>
              <a:rPr lang="en-US" sz="1500" b="1" i="0" u="none" strike="noStrike" cap="none">
                <a:solidFill>
                  <a:srgbClr val="334155"/>
                </a:solidFill>
                <a:latin typeface="Lato"/>
                <a:ea typeface="Lato"/>
                <a:cs typeface="Lato"/>
                <a:sym typeface="Lato"/>
              </a:rPr>
              <a:t>+3.28%</a:t>
            </a:r>
            <a:r>
              <a:rPr lang="en-US" sz="1500" b="0" i="0" u="none" strike="noStrike" cap="none">
                <a:solidFill>
                  <a:srgbClr val="334155"/>
                </a:solidFill>
                <a:latin typeface="Lato"/>
                <a:ea typeface="Lato"/>
                <a:cs typeface="Lato"/>
                <a:sym typeface="Lato"/>
              </a:rPr>
              <a:t> gain over its best individual model (LR at 72.13%).</a:t>
            </a:r>
            <a:endParaRPr/>
          </a:p>
        </p:txBody>
      </p:sp>
      <p:sp>
        <p:nvSpPr>
          <p:cNvPr id="256" name="Google Shape;256;p23"/>
          <p:cNvSpPr txBox="1"/>
          <p:nvPr/>
        </p:nvSpPr>
        <p:spPr>
          <a:xfrm>
            <a:off x="5876925" y="4836012"/>
            <a:ext cx="57435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dirty="0">
                <a:solidFill>
                  <a:srgbClr val="334155"/>
                </a:solidFill>
                <a:latin typeface="Lato"/>
                <a:ea typeface="Lato"/>
                <a:cs typeface="Lato"/>
                <a:sym typeface="Lato"/>
              </a:rPr>
              <a:t>Clinical Insight:</a:t>
            </a:r>
            <a:r>
              <a:rPr lang="en-US" sz="1500" b="0" i="0" u="none" strike="noStrike" cap="none" dirty="0">
                <a:solidFill>
                  <a:srgbClr val="334155"/>
                </a:solidFill>
                <a:latin typeface="Lato"/>
                <a:ea typeface="Lato"/>
                <a:cs typeface="Lato"/>
                <a:sym typeface="Lato"/>
              </a:rPr>
              <a:t> The authors noted improved recall, which is a crucial clinical trade-off, as "a false-negative is considered a criminal offense."</a:t>
            </a:r>
            <a:endParaRPr dirty="0"/>
          </a:p>
        </p:txBody>
      </p:sp>
      <p:sp>
        <p:nvSpPr>
          <p:cNvPr id="257" name="Google Shape;257;p23"/>
          <p:cNvSpPr txBox="1"/>
          <p:nvPr/>
        </p:nvSpPr>
        <p:spPr>
          <a:xfrm>
            <a:off x="590550" y="296476"/>
            <a:ext cx="11601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E293B"/>
                </a:solidFill>
                <a:latin typeface="Poppins"/>
                <a:ea typeface="Poppins"/>
                <a:cs typeface="Poppins"/>
                <a:sym typeface="Poppins"/>
              </a:rPr>
              <a:t>Results I: Multi-Class Severity Prediction (80:20 Split)</a:t>
            </a:r>
            <a:endParaRPr/>
          </a:p>
        </p:txBody>
      </p:sp>
      <p:pic>
        <p:nvPicPr>
          <p:cNvPr id="258" name="Google Shape;258;p23" title="Screenshot 2025-11-10 at 3.14.28 PM.png"/>
          <p:cNvPicPr preferRelativeResize="0"/>
          <p:nvPr/>
        </p:nvPicPr>
        <p:blipFill rotWithShape="1">
          <a:blip r:embed="rId3">
            <a:alphaModFix/>
          </a:blip>
          <a:srcRect l="13689" t="22299" r="23743"/>
          <a:stretch/>
        </p:blipFill>
        <p:spPr>
          <a:xfrm>
            <a:off x="102225" y="5026325"/>
            <a:ext cx="4221424" cy="1485900"/>
          </a:xfrm>
          <a:prstGeom prst="rect">
            <a:avLst/>
          </a:prstGeom>
          <a:noFill/>
          <a:ln>
            <a:noFill/>
          </a:ln>
        </p:spPr>
      </p:pic>
      <p:sp>
        <p:nvSpPr>
          <p:cNvPr id="259" name="Google Shape;259;p23"/>
          <p:cNvSpPr txBox="1"/>
          <p:nvPr/>
        </p:nvSpPr>
        <p:spPr>
          <a:xfrm>
            <a:off x="0" y="6512225"/>
            <a:ext cx="5935800" cy="734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100">
                <a:solidFill>
                  <a:schemeClr val="dk1"/>
                </a:solidFill>
              </a:rPr>
              <a:t>Fusion Model-3 with artificial neural network and logistic regression for multi classification</a:t>
            </a:r>
            <a:endParaRPr sz="1100">
              <a:solidFill>
                <a:schemeClr val="dk1"/>
              </a:solidFill>
            </a:endParaRPr>
          </a:p>
          <a:p>
            <a:pPr marL="0" lvl="0" indent="0" algn="l" rtl="0">
              <a:spcBef>
                <a:spcPts val="0"/>
              </a:spcBef>
              <a:spcAft>
                <a:spcPts val="0"/>
              </a:spcAft>
              <a:buNone/>
            </a:pPr>
            <a:endParaRPr sz="1100">
              <a:solidFill>
                <a:schemeClr val="dk1"/>
              </a:solidFill>
              <a:latin typeface="Calibri"/>
              <a:ea typeface="Calibri"/>
              <a:cs typeface="Calibri"/>
              <a:sym typeface="Calibri"/>
            </a:endParaRPr>
          </a:p>
        </p:txBody>
      </p:sp>
      <p:pic>
        <p:nvPicPr>
          <p:cNvPr id="260" name="Google Shape;260;p23" title="Screenshot 2025-11-10 at 3.18.00 PM.png"/>
          <p:cNvPicPr preferRelativeResize="0"/>
          <p:nvPr/>
        </p:nvPicPr>
        <p:blipFill>
          <a:blip r:embed="rId4">
            <a:alphaModFix/>
          </a:blip>
          <a:stretch>
            <a:fillRect/>
          </a:stretch>
        </p:blipFill>
        <p:spPr>
          <a:xfrm>
            <a:off x="102225" y="2992157"/>
            <a:ext cx="4221425" cy="1427445"/>
          </a:xfrm>
          <a:prstGeom prst="rect">
            <a:avLst/>
          </a:prstGeom>
          <a:noFill/>
          <a:ln>
            <a:noFill/>
          </a:ln>
        </p:spPr>
      </p:pic>
      <p:sp>
        <p:nvSpPr>
          <p:cNvPr id="261" name="Google Shape;261;p23"/>
          <p:cNvSpPr txBox="1"/>
          <p:nvPr/>
        </p:nvSpPr>
        <p:spPr>
          <a:xfrm>
            <a:off x="0" y="4419592"/>
            <a:ext cx="5935800" cy="734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100">
                <a:solidFill>
                  <a:schemeClr val="dk1"/>
                </a:solidFill>
              </a:rPr>
              <a:t>Fusion Model-2 with support vector machine and artificial neural network for multi classification</a:t>
            </a:r>
            <a:endParaRPr sz="1100">
              <a:solidFill>
                <a:schemeClr val="dk1"/>
              </a:solidFill>
            </a:endParaRPr>
          </a:p>
          <a:p>
            <a:pPr marL="0" lvl="0" indent="0" algn="l" rtl="0">
              <a:lnSpc>
                <a:spcPct val="115000"/>
              </a:lnSpc>
              <a:spcBef>
                <a:spcPts val="0"/>
              </a:spcBef>
              <a:spcAft>
                <a:spcPts val="0"/>
              </a:spcAft>
              <a:buNone/>
            </a:pPr>
            <a:endParaRPr sz="1100">
              <a:solidFill>
                <a:schemeClr val="dk1"/>
              </a:solidFill>
            </a:endParaRPr>
          </a:p>
          <a:p>
            <a:pPr marL="0" lvl="0" indent="0" algn="l" rtl="0">
              <a:spcBef>
                <a:spcPts val="0"/>
              </a:spcBef>
              <a:spcAft>
                <a:spcPts val="0"/>
              </a:spcAft>
              <a:buNone/>
            </a:pPr>
            <a:endParaRPr sz="1100">
              <a:solidFill>
                <a:schemeClr val="dk1"/>
              </a:solidFill>
              <a:latin typeface="Calibri"/>
              <a:ea typeface="Calibri"/>
              <a:cs typeface="Calibri"/>
              <a:sym typeface="Calibri"/>
            </a:endParaRPr>
          </a:p>
        </p:txBody>
      </p:sp>
      <p:pic>
        <p:nvPicPr>
          <p:cNvPr id="262" name="Google Shape;262;p23" title="Screenshot 2025-11-10 at 3.19.26 PM.png"/>
          <p:cNvPicPr preferRelativeResize="0"/>
          <p:nvPr/>
        </p:nvPicPr>
        <p:blipFill>
          <a:blip r:embed="rId5">
            <a:alphaModFix/>
          </a:blip>
          <a:stretch>
            <a:fillRect/>
          </a:stretch>
        </p:blipFill>
        <p:spPr>
          <a:xfrm>
            <a:off x="152400" y="1180009"/>
            <a:ext cx="4221425" cy="1427445"/>
          </a:xfrm>
          <a:prstGeom prst="rect">
            <a:avLst/>
          </a:prstGeom>
          <a:noFill/>
          <a:ln>
            <a:noFill/>
          </a:ln>
        </p:spPr>
      </p:pic>
      <p:sp>
        <p:nvSpPr>
          <p:cNvPr id="263" name="Google Shape;263;p23"/>
          <p:cNvSpPr txBox="1"/>
          <p:nvPr/>
        </p:nvSpPr>
        <p:spPr>
          <a:xfrm>
            <a:off x="0" y="2621529"/>
            <a:ext cx="5935800" cy="734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100">
                <a:solidFill>
                  <a:schemeClr val="dk1"/>
                </a:solidFill>
              </a:rPr>
              <a:t>Fusion Model-1 with logistic regression and random forest for multi classification</a:t>
            </a:r>
            <a:endParaRPr sz="1100">
              <a:solidFill>
                <a:schemeClr val="dk1"/>
              </a:solidFill>
            </a:endParaRPr>
          </a:p>
        </p:txBody>
      </p:sp>
      <p:sp>
        <p:nvSpPr>
          <p:cNvPr id="3" name="Slide Number Placeholder 2">
            <a:extLst>
              <a:ext uri="{FF2B5EF4-FFF2-40B4-BE49-F238E27FC236}">
                <a16:creationId xmlns:a16="http://schemas.microsoft.com/office/drawing/2014/main" id="{CE638FA1-1017-1C22-A92B-553B00A56153}"/>
              </a:ext>
            </a:extLst>
          </p:cNvPr>
          <p:cNvSpPr>
            <a:spLocks noGrp="1"/>
          </p:cNvSpPr>
          <p:nvPr>
            <p:ph type="sldNum" idx="12"/>
          </p:nvPr>
        </p:nvSpPr>
        <p:spPr>
          <a:xfrm>
            <a:off x="9956175" y="6403361"/>
            <a:ext cx="2133600" cy="365125"/>
          </a:xfrm>
        </p:spPr>
        <p:txBody>
          <a:bodyPr/>
          <a:lstStyle/>
          <a:p>
            <a:pPr marL="0" lvl="0" indent="0" algn="r" rtl="0">
              <a:spcBef>
                <a:spcPts val="0"/>
              </a:spcBef>
              <a:spcAft>
                <a:spcPts val="0"/>
              </a:spcAft>
              <a:buNone/>
            </a:pPr>
            <a:fld id="{00000000-1234-1234-1234-123412341234}"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7"/>
        <p:cNvGrpSpPr/>
        <p:nvPr/>
      </p:nvGrpSpPr>
      <p:grpSpPr>
        <a:xfrm>
          <a:off x="0" y="0"/>
          <a:ext cx="0" cy="0"/>
          <a:chOff x="0" y="0"/>
          <a:chExt cx="0" cy="0"/>
        </a:xfrm>
      </p:grpSpPr>
      <p:sp>
        <p:nvSpPr>
          <p:cNvPr id="268" name="Google Shape;268;p24"/>
          <p:cNvSpPr txBox="1"/>
          <p:nvPr/>
        </p:nvSpPr>
        <p:spPr>
          <a:xfrm>
            <a:off x="190500" y="2362200"/>
            <a:ext cx="55206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1E293B"/>
                </a:solidFill>
                <a:latin typeface="Poppins"/>
                <a:ea typeface="Poppins"/>
                <a:cs typeface="Poppins"/>
                <a:sym typeface="Poppins"/>
              </a:rPr>
              <a:t>State-of-the-Art Performance</a:t>
            </a:r>
            <a:endParaRPr/>
          </a:p>
        </p:txBody>
      </p:sp>
      <p:sp>
        <p:nvSpPr>
          <p:cNvPr id="269" name="Google Shape;269;p24"/>
          <p:cNvSpPr txBox="1"/>
          <p:nvPr/>
        </p:nvSpPr>
        <p:spPr>
          <a:xfrm>
            <a:off x="190500" y="3009900"/>
            <a:ext cx="52578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4155"/>
                </a:solidFill>
                <a:latin typeface="Lato"/>
                <a:ea typeface="Lato"/>
                <a:cs typeface="Lato"/>
                <a:sym typeface="Lato"/>
              </a:rPr>
              <a:t>Best Models:</a:t>
            </a:r>
            <a:r>
              <a:rPr lang="en-US" sz="1500" b="0" i="0" u="none" strike="noStrike" cap="none">
                <a:solidFill>
                  <a:srgbClr val="334155"/>
                </a:solidFill>
                <a:latin typeface="Lato"/>
                <a:ea typeface="Lato"/>
                <a:cs typeface="Lato"/>
                <a:sym typeface="Lato"/>
              </a:rPr>
              <a:t> Two fusion models tied for the top spot: (ANN + RF) and (ADA + DT).</a:t>
            </a:r>
            <a:endParaRPr/>
          </a:p>
        </p:txBody>
      </p:sp>
      <p:sp>
        <p:nvSpPr>
          <p:cNvPr id="270" name="Google Shape;270;p24"/>
          <p:cNvSpPr txBox="1"/>
          <p:nvPr/>
        </p:nvSpPr>
        <p:spPr>
          <a:xfrm>
            <a:off x="190500" y="3848100"/>
            <a:ext cx="52578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4155"/>
                </a:solidFill>
                <a:latin typeface="Lato"/>
                <a:ea typeface="Lato"/>
                <a:cs typeface="Lato"/>
                <a:sym typeface="Lato"/>
              </a:rPr>
              <a:t>The "Lift":</a:t>
            </a:r>
            <a:r>
              <a:rPr lang="en-US" sz="1500" b="0" i="0" u="none" strike="noStrike" cap="none">
                <a:solidFill>
                  <a:srgbClr val="334155"/>
                </a:solidFill>
                <a:latin typeface="Lato"/>
                <a:ea typeface="Lato"/>
                <a:cs typeface="Lato"/>
                <a:sym typeface="Lato"/>
              </a:rPr>
              <a:t> (ANN + RF) showed a </a:t>
            </a:r>
            <a:r>
              <a:rPr lang="en-US" sz="1500" b="1" i="0" u="none" strike="noStrike" cap="none">
                <a:solidFill>
                  <a:srgbClr val="334155"/>
                </a:solidFill>
                <a:latin typeface="Lato"/>
                <a:ea typeface="Lato"/>
                <a:cs typeface="Lato"/>
                <a:sym typeface="Lato"/>
              </a:rPr>
              <a:t>+1.64%</a:t>
            </a:r>
            <a:r>
              <a:rPr lang="en-US" sz="1500" b="0" i="0" u="none" strike="noStrike" cap="none">
                <a:solidFill>
                  <a:srgbClr val="334155"/>
                </a:solidFill>
                <a:latin typeface="Lato"/>
                <a:ea typeface="Lato"/>
                <a:cs typeface="Lato"/>
                <a:sym typeface="Lato"/>
              </a:rPr>
              <a:t> gain over its best baseline (RF at 93.44%).</a:t>
            </a:r>
            <a:endParaRPr/>
          </a:p>
        </p:txBody>
      </p:sp>
      <p:sp>
        <p:nvSpPr>
          <p:cNvPr id="271" name="Google Shape;271;p24"/>
          <p:cNvSpPr txBox="1"/>
          <p:nvPr/>
        </p:nvSpPr>
        <p:spPr>
          <a:xfrm>
            <a:off x="190500" y="4610100"/>
            <a:ext cx="52578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4155"/>
                </a:solidFill>
                <a:latin typeface="Lato"/>
                <a:ea typeface="Lato"/>
                <a:cs typeface="Lato"/>
                <a:sym typeface="Lato"/>
              </a:rPr>
              <a:t>Synergy:</a:t>
            </a:r>
            <a:r>
              <a:rPr lang="en-US" sz="1500" b="0" i="0" u="none" strike="noStrike" cap="none">
                <a:solidFill>
                  <a:srgbClr val="334155"/>
                </a:solidFill>
                <a:latin typeface="Lato"/>
                <a:ea typeface="Lato"/>
                <a:cs typeface="Lato"/>
                <a:sym typeface="Lato"/>
              </a:rPr>
              <a:t> (ADA + DT) showed a massive </a:t>
            </a:r>
            <a:r>
              <a:rPr lang="en-US" sz="1500" b="1" i="0" u="none" strike="noStrike" cap="none">
                <a:solidFill>
                  <a:srgbClr val="334155"/>
                </a:solidFill>
                <a:latin typeface="Lato"/>
                <a:ea typeface="Lato"/>
                <a:cs typeface="Lato"/>
                <a:sym typeface="Lato"/>
              </a:rPr>
              <a:t>+4.92%</a:t>
            </a:r>
            <a:r>
              <a:rPr lang="en-US" sz="1500" b="0" i="0" u="none" strike="noStrike" cap="none">
                <a:solidFill>
                  <a:srgbClr val="334155"/>
                </a:solidFill>
                <a:latin typeface="Lato"/>
                <a:ea typeface="Lato"/>
                <a:cs typeface="Lato"/>
                <a:sym typeface="Lato"/>
              </a:rPr>
              <a:t> gain over its individual models, which were both stuck at 90.16%.</a:t>
            </a:r>
            <a:endParaRPr/>
          </a:p>
        </p:txBody>
      </p:sp>
      <p:sp>
        <p:nvSpPr>
          <p:cNvPr id="272" name="Google Shape;272;p24"/>
          <p:cNvSpPr txBox="1"/>
          <p:nvPr/>
        </p:nvSpPr>
        <p:spPr>
          <a:xfrm>
            <a:off x="398625" y="240125"/>
            <a:ext cx="11601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E293B"/>
                </a:solidFill>
                <a:latin typeface="Poppins"/>
                <a:ea typeface="Poppins"/>
                <a:cs typeface="Poppins"/>
                <a:sym typeface="Poppins"/>
              </a:rPr>
              <a:t>Results II: Binary Presence/Absence (80:20 Split)</a:t>
            </a:r>
            <a:endParaRPr/>
          </a:p>
        </p:txBody>
      </p:sp>
      <p:sp>
        <p:nvSpPr>
          <p:cNvPr id="273" name="Google Shape;273;p24"/>
          <p:cNvSpPr txBox="1"/>
          <p:nvPr/>
        </p:nvSpPr>
        <p:spPr>
          <a:xfrm>
            <a:off x="6478925" y="6378475"/>
            <a:ext cx="5935800" cy="734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100" dirty="0">
                <a:solidFill>
                  <a:schemeClr val="dk1"/>
                </a:solidFill>
              </a:rPr>
              <a:t>Fusion Model-3 with </a:t>
            </a:r>
            <a:r>
              <a:rPr lang="en-US" sz="1100" dirty="0" err="1">
                <a:solidFill>
                  <a:schemeClr val="dk1"/>
                </a:solidFill>
              </a:rPr>
              <a:t>adaboost</a:t>
            </a:r>
            <a:r>
              <a:rPr lang="en-US" sz="1100" dirty="0">
                <a:solidFill>
                  <a:schemeClr val="dk1"/>
                </a:solidFill>
              </a:rPr>
              <a:t> and decision tree for binary classification</a:t>
            </a:r>
            <a:endParaRPr sz="1100" dirty="0">
              <a:solidFill>
                <a:schemeClr val="dk1"/>
              </a:solidFill>
            </a:endParaRPr>
          </a:p>
          <a:p>
            <a:pPr marL="0" lvl="0" indent="0" algn="l" rtl="0">
              <a:spcBef>
                <a:spcPts val="0"/>
              </a:spcBef>
              <a:spcAft>
                <a:spcPts val="0"/>
              </a:spcAft>
              <a:buNone/>
            </a:pPr>
            <a:endParaRPr sz="1100" dirty="0">
              <a:solidFill>
                <a:schemeClr val="dk1"/>
              </a:solidFill>
            </a:endParaRPr>
          </a:p>
        </p:txBody>
      </p:sp>
      <p:sp>
        <p:nvSpPr>
          <p:cNvPr id="274" name="Google Shape;274;p24"/>
          <p:cNvSpPr txBox="1"/>
          <p:nvPr/>
        </p:nvSpPr>
        <p:spPr>
          <a:xfrm>
            <a:off x="6256200" y="4511588"/>
            <a:ext cx="5935800" cy="307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100">
                <a:solidFill>
                  <a:schemeClr val="dk1"/>
                </a:solidFill>
              </a:rPr>
              <a:t>Fusion Model-2 with support vector machine and logistic regression for binary Classification</a:t>
            </a:r>
            <a:endParaRPr sz="1100">
              <a:solidFill>
                <a:schemeClr val="dk1"/>
              </a:solidFill>
            </a:endParaRPr>
          </a:p>
          <a:p>
            <a:pPr marL="0" lvl="0" indent="0" algn="l" rtl="0">
              <a:lnSpc>
                <a:spcPct val="115000"/>
              </a:lnSpc>
              <a:spcBef>
                <a:spcPts val="0"/>
              </a:spcBef>
              <a:spcAft>
                <a:spcPts val="0"/>
              </a:spcAft>
              <a:buNone/>
            </a:pPr>
            <a:endParaRPr sz="1100">
              <a:solidFill>
                <a:schemeClr val="dk1"/>
              </a:solidFill>
            </a:endParaRPr>
          </a:p>
          <a:p>
            <a:pPr marL="0" lvl="0" indent="0" algn="l" rtl="0">
              <a:spcBef>
                <a:spcPts val="0"/>
              </a:spcBef>
              <a:spcAft>
                <a:spcPts val="0"/>
              </a:spcAft>
              <a:buNone/>
            </a:pPr>
            <a:endParaRPr sz="1100">
              <a:solidFill>
                <a:schemeClr val="dk1"/>
              </a:solidFill>
              <a:latin typeface="Calibri"/>
              <a:ea typeface="Calibri"/>
              <a:cs typeface="Calibri"/>
              <a:sym typeface="Calibri"/>
            </a:endParaRPr>
          </a:p>
        </p:txBody>
      </p:sp>
      <p:sp>
        <p:nvSpPr>
          <p:cNvPr id="275" name="Google Shape;275;p24"/>
          <p:cNvSpPr txBox="1"/>
          <p:nvPr/>
        </p:nvSpPr>
        <p:spPr>
          <a:xfrm>
            <a:off x="6478930" y="2692118"/>
            <a:ext cx="5935800" cy="36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100">
                <a:solidFill>
                  <a:schemeClr val="dk1"/>
                </a:solidFill>
              </a:rPr>
              <a:t>Fusion Model-1 with artificial neural network and random forest for binary classification</a:t>
            </a:r>
            <a:endParaRPr sz="1100">
              <a:solidFill>
                <a:schemeClr val="dk1"/>
              </a:solidFill>
              <a:latin typeface="Calibri"/>
              <a:ea typeface="Calibri"/>
              <a:cs typeface="Calibri"/>
              <a:sym typeface="Calibri"/>
            </a:endParaRPr>
          </a:p>
        </p:txBody>
      </p:sp>
      <p:pic>
        <p:nvPicPr>
          <p:cNvPr id="276" name="Google Shape;276;p24" title="Screenshot 2025-11-10 at 3.28.08 PM.png"/>
          <p:cNvPicPr preferRelativeResize="0"/>
          <p:nvPr/>
        </p:nvPicPr>
        <p:blipFill rotWithShape="1">
          <a:blip r:embed="rId3">
            <a:alphaModFix/>
          </a:blip>
          <a:srcRect t="-3900" b="3900"/>
          <a:stretch/>
        </p:blipFill>
        <p:spPr>
          <a:xfrm>
            <a:off x="7040419" y="1212642"/>
            <a:ext cx="4227249" cy="369300"/>
          </a:xfrm>
          <a:prstGeom prst="rect">
            <a:avLst/>
          </a:prstGeom>
          <a:noFill/>
          <a:ln>
            <a:noFill/>
          </a:ln>
        </p:spPr>
      </p:pic>
      <p:pic>
        <p:nvPicPr>
          <p:cNvPr id="277" name="Google Shape;277;p24" title="Screenshot 2025-11-10 at 3.30.10 PM.png"/>
          <p:cNvPicPr preferRelativeResize="0"/>
          <p:nvPr/>
        </p:nvPicPr>
        <p:blipFill>
          <a:blip r:embed="rId4">
            <a:alphaModFix/>
          </a:blip>
          <a:stretch>
            <a:fillRect/>
          </a:stretch>
        </p:blipFill>
        <p:spPr>
          <a:xfrm>
            <a:off x="7040425" y="1604706"/>
            <a:ext cx="4227249" cy="1037158"/>
          </a:xfrm>
          <a:prstGeom prst="rect">
            <a:avLst/>
          </a:prstGeom>
          <a:noFill/>
          <a:ln>
            <a:noFill/>
          </a:ln>
        </p:spPr>
      </p:pic>
      <p:pic>
        <p:nvPicPr>
          <p:cNvPr id="278" name="Google Shape;278;p24" title="Screenshot 2025-11-10 at 3.28.08 PM.png"/>
          <p:cNvPicPr preferRelativeResize="0"/>
          <p:nvPr/>
        </p:nvPicPr>
        <p:blipFill>
          <a:blip r:embed="rId3">
            <a:alphaModFix/>
          </a:blip>
          <a:stretch>
            <a:fillRect/>
          </a:stretch>
        </p:blipFill>
        <p:spPr>
          <a:xfrm>
            <a:off x="7040419" y="3078599"/>
            <a:ext cx="4227249" cy="369300"/>
          </a:xfrm>
          <a:prstGeom prst="rect">
            <a:avLst/>
          </a:prstGeom>
          <a:noFill/>
          <a:ln>
            <a:noFill/>
          </a:ln>
        </p:spPr>
      </p:pic>
      <p:pic>
        <p:nvPicPr>
          <p:cNvPr id="279" name="Google Shape;279;p24" title="Screenshot 2025-11-10 at 3.28.08 PM.png"/>
          <p:cNvPicPr preferRelativeResize="0"/>
          <p:nvPr/>
        </p:nvPicPr>
        <p:blipFill>
          <a:blip r:embed="rId3">
            <a:alphaModFix/>
          </a:blip>
          <a:stretch>
            <a:fillRect/>
          </a:stretch>
        </p:blipFill>
        <p:spPr>
          <a:xfrm>
            <a:off x="7040419" y="4944538"/>
            <a:ext cx="4227249" cy="369300"/>
          </a:xfrm>
          <a:prstGeom prst="rect">
            <a:avLst/>
          </a:prstGeom>
          <a:noFill/>
          <a:ln>
            <a:noFill/>
          </a:ln>
        </p:spPr>
      </p:pic>
      <p:pic>
        <p:nvPicPr>
          <p:cNvPr id="280" name="Google Shape;280;p24" title="Screenshot 2025-11-10 at 3.31.57 PM.png"/>
          <p:cNvPicPr preferRelativeResize="0"/>
          <p:nvPr/>
        </p:nvPicPr>
        <p:blipFill>
          <a:blip r:embed="rId5">
            <a:alphaModFix/>
          </a:blip>
          <a:stretch>
            <a:fillRect/>
          </a:stretch>
        </p:blipFill>
        <p:spPr>
          <a:xfrm>
            <a:off x="7040425" y="3443036"/>
            <a:ext cx="4227249" cy="1068564"/>
          </a:xfrm>
          <a:prstGeom prst="rect">
            <a:avLst/>
          </a:prstGeom>
          <a:noFill/>
          <a:ln>
            <a:noFill/>
          </a:ln>
        </p:spPr>
      </p:pic>
      <p:pic>
        <p:nvPicPr>
          <p:cNvPr id="281" name="Google Shape;281;p24" title="Screenshot 2025-11-10 at 3.33.16 PM.png"/>
          <p:cNvPicPr preferRelativeResize="0"/>
          <p:nvPr/>
        </p:nvPicPr>
        <p:blipFill>
          <a:blip r:embed="rId6">
            <a:alphaModFix/>
          </a:blip>
          <a:stretch>
            <a:fillRect/>
          </a:stretch>
        </p:blipFill>
        <p:spPr>
          <a:xfrm>
            <a:off x="7040425" y="5309888"/>
            <a:ext cx="4227122" cy="1068575"/>
          </a:xfrm>
          <a:prstGeom prst="rect">
            <a:avLst/>
          </a:prstGeom>
          <a:noFill/>
          <a:ln>
            <a:noFill/>
          </a:ln>
        </p:spPr>
      </p:pic>
      <p:sp>
        <p:nvSpPr>
          <p:cNvPr id="3" name="Slide Number Placeholder 2">
            <a:extLst>
              <a:ext uri="{FF2B5EF4-FFF2-40B4-BE49-F238E27FC236}">
                <a16:creationId xmlns:a16="http://schemas.microsoft.com/office/drawing/2014/main" id="{8BE8A740-10F8-1446-6AB5-519B2B259384}"/>
              </a:ext>
            </a:extLst>
          </p:cNvPr>
          <p:cNvSpPr>
            <a:spLocks noGrp="1"/>
          </p:cNvSpPr>
          <p:nvPr>
            <p:ph type="sldNum" idx="12"/>
          </p:nvPr>
        </p:nvSpPr>
        <p:spPr>
          <a:xfrm>
            <a:off x="-1734975" y="6435312"/>
            <a:ext cx="2133600" cy="365125"/>
          </a:xfrm>
        </p:spPr>
        <p:txBody>
          <a:bodyPr/>
          <a:lstStyle/>
          <a:p>
            <a:pPr marL="0" lvl="0" indent="0" algn="r" rtl="0">
              <a:spcBef>
                <a:spcPts val="0"/>
              </a:spcBef>
              <a:spcAft>
                <a:spcPts val="0"/>
              </a:spcAft>
              <a:buNone/>
            </a:pPr>
            <a:fld id="{00000000-1234-1234-1234-123412341234}" type="slidenum">
              <a:rPr lang="en-US" smtClean="0"/>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5"/>
        <p:cNvGrpSpPr/>
        <p:nvPr/>
      </p:nvGrpSpPr>
      <p:grpSpPr>
        <a:xfrm>
          <a:off x="0" y="0"/>
          <a:ext cx="0" cy="0"/>
          <a:chOff x="0" y="0"/>
          <a:chExt cx="0" cy="0"/>
        </a:xfrm>
      </p:grpSpPr>
      <p:pic>
        <p:nvPicPr>
          <p:cNvPr id="286" name="Google Shape;286;p25" descr="image.png"/>
          <p:cNvPicPr preferRelativeResize="0"/>
          <p:nvPr/>
        </p:nvPicPr>
        <p:blipFill rotWithShape="1">
          <a:blip r:embed="rId3">
            <a:alphaModFix/>
          </a:blip>
          <a:srcRect/>
          <a:stretch/>
        </p:blipFill>
        <p:spPr>
          <a:xfrm>
            <a:off x="6334125" y="2142529"/>
            <a:ext cx="5286375" cy="3525440"/>
          </a:xfrm>
          <a:prstGeom prst="rect">
            <a:avLst/>
          </a:prstGeom>
          <a:noFill/>
          <a:ln>
            <a:noFill/>
          </a:ln>
        </p:spPr>
      </p:pic>
      <p:sp>
        <p:nvSpPr>
          <p:cNvPr id="287" name="Google Shape;287;p25"/>
          <p:cNvSpPr txBox="1"/>
          <p:nvPr/>
        </p:nvSpPr>
        <p:spPr>
          <a:xfrm>
            <a:off x="6724650" y="2533054"/>
            <a:ext cx="4730591"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Multi-Class (75.41%)</a:t>
            </a:r>
            <a:endParaRPr/>
          </a:p>
        </p:txBody>
      </p:sp>
      <p:sp>
        <p:nvSpPr>
          <p:cNvPr id="288" name="Google Shape;288;p25"/>
          <p:cNvSpPr txBox="1"/>
          <p:nvPr/>
        </p:nvSpPr>
        <p:spPr>
          <a:xfrm>
            <a:off x="7105650" y="3123604"/>
            <a:ext cx="4124325" cy="23991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This Paper: 75.41%</a:t>
            </a:r>
            <a:endParaRPr/>
          </a:p>
        </p:txBody>
      </p:sp>
      <p:sp>
        <p:nvSpPr>
          <p:cNvPr id="289" name="Google Shape;289;p25"/>
          <p:cNvSpPr txBox="1"/>
          <p:nvPr/>
        </p:nvSpPr>
        <p:spPr>
          <a:xfrm>
            <a:off x="7105650" y="3506390"/>
            <a:ext cx="4124325" cy="479821"/>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Lato"/>
                <a:ea typeface="Lato"/>
                <a:cs typeface="Lato"/>
                <a:sym typeface="Lato"/>
              </a:rPr>
              <a:t>vs. (Nahiduzzaman et al.) SVM on same problem: 68.86%</a:t>
            </a:r>
            <a:endParaRPr/>
          </a:p>
        </p:txBody>
      </p:sp>
      <p:sp>
        <p:nvSpPr>
          <p:cNvPr id="290" name="Google Shape;290;p25"/>
          <p:cNvSpPr txBox="1"/>
          <p:nvPr/>
        </p:nvSpPr>
        <p:spPr>
          <a:xfrm>
            <a:off x="7105650" y="4129087"/>
            <a:ext cx="4124325" cy="719732"/>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Conclusion:</a:t>
            </a:r>
            <a:r>
              <a:rPr lang="en-US" sz="1350" b="0" i="0" u="none" strike="noStrike" cap="none">
                <a:solidFill>
                  <a:srgbClr val="334155"/>
                </a:solidFill>
                <a:latin typeface="Lato"/>
                <a:ea typeface="Lato"/>
                <a:cs typeface="Lato"/>
                <a:sym typeface="Lato"/>
              </a:rPr>
              <a:t> A </a:t>
            </a:r>
            <a:r>
              <a:rPr lang="en-US" sz="1350" b="1" i="0" u="none" strike="noStrike" cap="none">
                <a:solidFill>
                  <a:srgbClr val="334155"/>
                </a:solidFill>
                <a:latin typeface="Lato"/>
                <a:ea typeface="Lato"/>
                <a:cs typeface="Lato"/>
                <a:sym typeface="Lato"/>
              </a:rPr>
              <a:t>+6.55%</a:t>
            </a:r>
            <a:r>
              <a:rPr lang="en-US" sz="1350" b="0" i="0" u="none" strike="noStrike" cap="none">
                <a:solidFill>
                  <a:srgbClr val="334155"/>
                </a:solidFill>
                <a:latin typeface="Lato"/>
                <a:ea typeface="Lato"/>
                <a:cs typeface="Lato"/>
                <a:sym typeface="Lato"/>
              </a:rPr>
              <a:t> absolute improvement on the more difficult multi-class problem, demonstrating clear superiority.</a:t>
            </a:r>
            <a:endParaRPr/>
          </a:p>
        </p:txBody>
      </p:sp>
      <p:sp>
        <p:nvSpPr>
          <p:cNvPr id="291" name="Google Shape;291;p25"/>
          <p:cNvSpPr txBox="1"/>
          <p:nvPr/>
        </p:nvSpPr>
        <p:spPr>
          <a:xfrm>
            <a:off x="1057275" y="3142654"/>
            <a:ext cx="95400" cy="2154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endParaRPr/>
          </a:p>
        </p:txBody>
      </p:sp>
      <p:sp>
        <p:nvSpPr>
          <p:cNvPr id="292" name="Google Shape;292;p25"/>
          <p:cNvSpPr txBox="1"/>
          <p:nvPr/>
        </p:nvSpPr>
        <p:spPr>
          <a:xfrm>
            <a:off x="1057275" y="3908226"/>
            <a:ext cx="95400" cy="2154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endParaRPr/>
          </a:p>
        </p:txBody>
      </p:sp>
      <p:sp>
        <p:nvSpPr>
          <p:cNvPr id="293" name="Google Shape;293;p25"/>
          <p:cNvSpPr txBox="1"/>
          <p:nvPr/>
        </p:nvSpPr>
        <p:spPr>
          <a:xfrm>
            <a:off x="1057275" y="4673798"/>
            <a:ext cx="95400" cy="2154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endParaRPr/>
          </a:p>
        </p:txBody>
      </p:sp>
      <p:sp>
        <p:nvSpPr>
          <p:cNvPr id="294" name="Google Shape;294;p25"/>
          <p:cNvSpPr txBox="1"/>
          <p:nvPr/>
        </p:nvSpPr>
        <p:spPr>
          <a:xfrm>
            <a:off x="6819900" y="3142654"/>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295" name="Google Shape;295;p25"/>
          <p:cNvSpPr txBox="1"/>
          <p:nvPr/>
        </p:nvSpPr>
        <p:spPr>
          <a:xfrm>
            <a:off x="6819900" y="3525440"/>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296" name="Google Shape;296;p25"/>
          <p:cNvSpPr txBox="1"/>
          <p:nvPr/>
        </p:nvSpPr>
        <p:spPr>
          <a:xfrm>
            <a:off x="6819900" y="4148137"/>
            <a:ext cx="95250" cy="20955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297" name="Google Shape;297;p25"/>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E293B"/>
                </a:solidFill>
                <a:latin typeface="Poppins"/>
                <a:ea typeface="Poppins"/>
                <a:cs typeface="Poppins"/>
                <a:sym typeface="Poppins"/>
              </a:rPr>
              <a:t>Results III: Benchmarking vs. The Field</a:t>
            </a:r>
            <a:endParaRPr/>
          </a:p>
        </p:txBody>
      </p:sp>
      <p:pic>
        <p:nvPicPr>
          <p:cNvPr id="298" name="Google Shape;298;p25" title="Screenshot 2025-11-10 at 3.08.59 PM.png"/>
          <p:cNvPicPr preferRelativeResize="0"/>
          <p:nvPr/>
        </p:nvPicPr>
        <p:blipFill rotWithShape="1">
          <a:blip r:embed="rId4">
            <a:alphaModFix/>
          </a:blip>
          <a:srcRect r="50738" b="10706"/>
          <a:stretch/>
        </p:blipFill>
        <p:spPr>
          <a:xfrm>
            <a:off x="109250" y="1645226"/>
            <a:ext cx="5755998" cy="4166825"/>
          </a:xfrm>
          <a:prstGeom prst="rect">
            <a:avLst/>
          </a:prstGeom>
          <a:noFill/>
          <a:ln>
            <a:noFill/>
          </a:ln>
        </p:spPr>
      </p:pic>
      <p:sp>
        <p:nvSpPr>
          <p:cNvPr id="3" name="Slide Number Placeholder 2">
            <a:extLst>
              <a:ext uri="{FF2B5EF4-FFF2-40B4-BE49-F238E27FC236}">
                <a16:creationId xmlns:a16="http://schemas.microsoft.com/office/drawing/2014/main" id="{3E844526-40DB-1CDD-C8EC-DC6E311251D3}"/>
              </a:ext>
            </a:extLst>
          </p:cNvPr>
          <p:cNvSpPr>
            <a:spLocks noGrp="1"/>
          </p:cNvSpPr>
          <p:nvPr>
            <p:ph type="sldNum" idx="12"/>
          </p:nvPr>
        </p:nvSpPr>
        <p:spPr>
          <a:xfrm>
            <a:off x="-1704536" y="6314277"/>
            <a:ext cx="2133600" cy="365125"/>
          </a:xfrm>
        </p:spPr>
        <p:txBody>
          <a:bodyPr/>
          <a:lstStyle/>
          <a:p>
            <a:pPr marL="0" lvl="0" indent="0" algn="r" rtl="0">
              <a:spcBef>
                <a:spcPts val="0"/>
              </a:spcBef>
              <a:spcAft>
                <a:spcPts val="0"/>
              </a:spcAft>
              <a:buNone/>
            </a:pPr>
            <a:fld id="{00000000-1234-1234-1234-123412341234}"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2"/>
        <p:cNvGrpSpPr/>
        <p:nvPr/>
      </p:nvGrpSpPr>
      <p:grpSpPr>
        <a:xfrm>
          <a:off x="0" y="0"/>
          <a:ext cx="0" cy="0"/>
          <a:chOff x="0" y="0"/>
          <a:chExt cx="0" cy="0"/>
        </a:xfrm>
      </p:grpSpPr>
      <p:pic>
        <p:nvPicPr>
          <p:cNvPr id="303" name="Google Shape;303;p26" descr="image.png"/>
          <p:cNvPicPr preferRelativeResize="0"/>
          <p:nvPr/>
        </p:nvPicPr>
        <p:blipFill rotWithShape="1">
          <a:blip r:embed="rId3">
            <a:alphaModFix/>
          </a:blip>
          <a:srcRect/>
          <a:stretch/>
        </p:blipFill>
        <p:spPr>
          <a:xfrm>
            <a:off x="571500" y="2142529"/>
            <a:ext cx="5286375" cy="3525440"/>
          </a:xfrm>
          <a:prstGeom prst="rect">
            <a:avLst/>
          </a:prstGeom>
          <a:noFill/>
          <a:ln>
            <a:noFill/>
          </a:ln>
        </p:spPr>
      </p:pic>
      <p:sp>
        <p:nvSpPr>
          <p:cNvPr id="304" name="Google Shape;304;p26"/>
          <p:cNvSpPr txBox="1"/>
          <p:nvPr/>
        </p:nvSpPr>
        <p:spPr>
          <a:xfrm>
            <a:off x="962025" y="2533054"/>
            <a:ext cx="47307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B82F6"/>
                </a:solidFill>
                <a:latin typeface="Poppins"/>
                <a:ea typeface="Poppins"/>
                <a:cs typeface="Poppins"/>
                <a:sym typeface="Poppins"/>
              </a:rPr>
              <a:t>Binary Classification (95.08%)</a:t>
            </a:r>
            <a:endParaRPr/>
          </a:p>
        </p:txBody>
      </p:sp>
      <p:sp>
        <p:nvSpPr>
          <p:cNvPr id="305" name="Google Shape;305;p26"/>
          <p:cNvSpPr txBox="1"/>
          <p:nvPr/>
        </p:nvSpPr>
        <p:spPr>
          <a:xfrm>
            <a:off x="1343025" y="3123604"/>
            <a:ext cx="4124400" cy="20790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This Paper: 95.08%</a:t>
            </a:r>
            <a:endParaRPr/>
          </a:p>
        </p:txBody>
      </p:sp>
      <p:sp>
        <p:nvSpPr>
          <p:cNvPr id="306" name="Google Shape;306;p26"/>
          <p:cNvSpPr txBox="1"/>
          <p:nvPr/>
        </p:nvSpPr>
        <p:spPr>
          <a:xfrm>
            <a:off x="1343025" y="3506390"/>
            <a:ext cx="4124400" cy="20790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Lato"/>
                <a:ea typeface="Lato"/>
                <a:cs typeface="Lato"/>
                <a:sym typeface="Lato"/>
              </a:rPr>
              <a:t>vs. (Paul et al.) Weighted fuzzy: 92.31%</a:t>
            </a:r>
            <a:endParaRPr/>
          </a:p>
        </p:txBody>
      </p:sp>
      <p:sp>
        <p:nvSpPr>
          <p:cNvPr id="307" name="Google Shape;307;p26"/>
          <p:cNvSpPr txBox="1"/>
          <p:nvPr/>
        </p:nvSpPr>
        <p:spPr>
          <a:xfrm>
            <a:off x="1343025" y="3889176"/>
            <a:ext cx="4124400" cy="20790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Lato"/>
                <a:ea typeface="Lato"/>
                <a:cs typeface="Lato"/>
                <a:sym typeface="Lato"/>
              </a:rPr>
              <a:t>vs. (Samuel et al.) Hybrid ANN: 91.10%</a:t>
            </a:r>
            <a:endParaRPr/>
          </a:p>
        </p:txBody>
      </p:sp>
      <p:sp>
        <p:nvSpPr>
          <p:cNvPr id="308" name="Google Shape;308;p26"/>
          <p:cNvSpPr txBox="1"/>
          <p:nvPr/>
        </p:nvSpPr>
        <p:spPr>
          <a:xfrm>
            <a:off x="1343025" y="4271962"/>
            <a:ext cx="4124400" cy="20790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0" i="0" u="none" strike="noStrike" cap="none">
                <a:solidFill>
                  <a:srgbClr val="334155"/>
                </a:solidFill>
                <a:latin typeface="Lato"/>
                <a:ea typeface="Lato"/>
                <a:cs typeface="Lato"/>
                <a:sym typeface="Lato"/>
              </a:rPr>
              <a:t>vs. (Harimoorthy et al.) Improved SVM: 89.9%</a:t>
            </a:r>
            <a:endParaRPr/>
          </a:p>
        </p:txBody>
      </p:sp>
      <p:sp>
        <p:nvSpPr>
          <p:cNvPr id="309" name="Google Shape;309;p26"/>
          <p:cNvSpPr txBox="1"/>
          <p:nvPr/>
        </p:nvSpPr>
        <p:spPr>
          <a:xfrm>
            <a:off x="1343025" y="4654748"/>
            <a:ext cx="4124400" cy="49860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334155"/>
                </a:solidFill>
                <a:latin typeface="Lato"/>
                <a:ea typeface="Lato"/>
                <a:cs typeface="Lato"/>
                <a:sym typeface="Lato"/>
              </a:rPr>
              <a:t>Conclusion:</a:t>
            </a:r>
            <a:r>
              <a:rPr lang="en-US" sz="1350" b="0" i="0" u="none" strike="noStrike" cap="none">
                <a:solidFill>
                  <a:srgbClr val="334155"/>
                </a:solidFill>
                <a:latin typeface="Lato"/>
                <a:ea typeface="Lato"/>
                <a:cs typeface="Lato"/>
                <a:sym typeface="Lato"/>
              </a:rPr>
              <a:t> The result surpassed other complex hybrid models.</a:t>
            </a:r>
            <a:endParaRPr/>
          </a:p>
        </p:txBody>
      </p:sp>
      <p:sp>
        <p:nvSpPr>
          <p:cNvPr id="310" name="Google Shape;310;p26"/>
          <p:cNvSpPr txBox="1"/>
          <p:nvPr/>
        </p:nvSpPr>
        <p:spPr>
          <a:xfrm>
            <a:off x="1057275" y="3142654"/>
            <a:ext cx="95400" cy="1848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311" name="Google Shape;311;p26"/>
          <p:cNvSpPr txBox="1"/>
          <p:nvPr/>
        </p:nvSpPr>
        <p:spPr>
          <a:xfrm>
            <a:off x="1057275" y="3525440"/>
            <a:ext cx="95400" cy="1848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312" name="Google Shape;312;p26"/>
          <p:cNvSpPr txBox="1"/>
          <p:nvPr/>
        </p:nvSpPr>
        <p:spPr>
          <a:xfrm>
            <a:off x="1057275" y="3908226"/>
            <a:ext cx="95400" cy="1848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313" name="Google Shape;313;p26"/>
          <p:cNvSpPr txBox="1"/>
          <p:nvPr/>
        </p:nvSpPr>
        <p:spPr>
          <a:xfrm>
            <a:off x="1057275" y="4291012"/>
            <a:ext cx="95400" cy="1848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314" name="Google Shape;314;p26"/>
          <p:cNvSpPr txBox="1"/>
          <p:nvPr/>
        </p:nvSpPr>
        <p:spPr>
          <a:xfrm>
            <a:off x="1057275" y="4673798"/>
            <a:ext cx="95400" cy="1848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3B82F6"/>
                </a:solidFill>
                <a:latin typeface="Lato"/>
                <a:ea typeface="Lato"/>
                <a:cs typeface="Lato"/>
                <a:sym typeface="Lato"/>
              </a:rPr>
              <a:t>■</a:t>
            </a:r>
            <a:endParaRPr/>
          </a:p>
        </p:txBody>
      </p:sp>
      <p:sp>
        <p:nvSpPr>
          <p:cNvPr id="315" name="Google Shape;315;p26"/>
          <p:cNvSpPr txBox="1"/>
          <p:nvPr/>
        </p:nvSpPr>
        <p:spPr>
          <a:xfrm>
            <a:off x="6819900" y="3525440"/>
            <a:ext cx="95400" cy="2154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endParaRPr/>
          </a:p>
        </p:txBody>
      </p:sp>
      <p:sp>
        <p:nvSpPr>
          <p:cNvPr id="316" name="Google Shape;316;p26"/>
          <p:cNvSpPr txBox="1"/>
          <p:nvPr/>
        </p:nvSpPr>
        <p:spPr>
          <a:xfrm>
            <a:off x="571500" y="571500"/>
            <a:ext cx="11601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E293B"/>
                </a:solidFill>
                <a:latin typeface="Poppins"/>
                <a:ea typeface="Poppins"/>
                <a:cs typeface="Poppins"/>
                <a:sym typeface="Poppins"/>
              </a:rPr>
              <a:t>Results III: Benchmarking vs. The Field</a:t>
            </a:r>
            <a:endParaRPr/>
          </a:p>
        </p:txBody>
      </p:sp>
      <p:pic>
        <p:nvPicPr>
          <p:cNvPr id="317" name="Google Shape;317;p26" title="Screenshot 2025-11-10 at 3.08.59 PM.png"/>
          <p:cNvPicPr preferRelativeResize="0"/>
          <p:nvPr/>
        </p:nvPicPr>
        <p:blipFill rotWithShape="1">
          <a:blip r:embed="rId4">
            <a:alphaModFix/>
          </a:blip>
          <a:srcRect l="55434" r="-2834" b="9698"/>
          <a:stretch/>
        </p:blipFill>
        <p:spPr>
          <a:xfrm>
            <a:off x="6163226" y="1571875"/>
            <a:ext cx="5779277" cy="4396751"/>
          </a:xfrm>
          <a:prstGeom prst="rect">
            <a:avLst/>
          </a:prstGeom>
          <a:noFill/>
          <a:ln>
            <a:noFill/>
          </a:ln>
        </p:spPr>
      </p:pic>
      <p:sp>
        <p:nvSpPr>
          <p:cNvPr id="3" name="Slide Number Placeholder 2">
            <a:extLst>
              <a:ext uri="{FF2B5EF4-FFF2-40B4-BE49-F238E27FC236}">
                <a16:creationId xmlns:a16="http://schemas.microsoft.com/office/drawing/2014/main" id="{5D4F770B-CD11-D905-836B-EABA3F5E94A8}"/>
              </a:ext>
            </a:extLst>
          </p:cNvPr>
          <p:cNvSpPr>
            <a:spLocks noGrp="1"/>
          </p:cNvSpPr>
          <p:nvPr>
            <p:ph type="sldNum" idx="12"/>
          </p:nvPr>
        </p:nvSpPr>
        <p:spPr>
          <a:xfrm>
            <a:off x="-1760807" y="6342282"/>
            <a:ext cx="2133600" cy="365125"/>
          </a:xfrm>
        </p:spPr>
        <p:txBody>
          <a:bodyPr/>
          <a:lstStyle/>
          <a:p>
            <a:pPr marL="0" lvl="0" indent="0" algn="r" rtl="0">
              <a:spcBef>
                <a:spcPts val="0"/>
              </a:spcBef>
              <a:spcAft>
                <a:spcPts val="0"/>
              </a:spcAft>
              <a:buNone/>
            </a:pPr>
            <a:fld id="{00000000-1234-1234-1234-123412341234}"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1"/>
        <p:cNvGrpSpPr/>
        <p:nvPr/>
      </p:nvGrpSpPr>
      <p:grpSpPr>
        <a:xfrm>
          <a:off x="0" y="0"/>
          <a:ext cx="0" cy="0"/>
          <a:chOff x="0" y="0"/>
          <a:chExt cx="0" cy="0"/>
        </a:xfrm>
      </p:grpSpPr>
      <p:pic>
        <p:nvPicPr>
          <p:cNvPr id="322" name="Google Shape;322;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23" name="Google Shape;323;p27"/>
          <p:cNvSpPr txBox="1"/>
          <p:nvPr/>
        </p:nvSpPr>
        <p:spPr>
          <a:xfrm>
            <a:off x="1714500" y="2511028"/>
            <a:ext cx="91440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1E293B"/>
                </a:solidFill>
                <a:latin typeface="Lato"/>
                <a:ea typeface="Lato"/>
                <a:cs typeface="Lato"/>
                <a:sym typeface="Lato"/>
              </a:rPr>
              <a:t>Main Conclusion:</a:t>
            </a:r>
            <a:r>
              <a:rPr lang="en-US" sz="1425" b="0" i="0" u="none" strike="noStrike" cap="none">
                <a:solidFill>
                  <a:srgbClr val="334155"/>
                </a:solidFill>
                <a:latin typeface="Lato"/>
                <a:ea typeface="Lato"/>
                <a:cs typeface="Lato"/>
                <a:sym typeface="Lato"/>
              </a:rPr>
              <a:t> The proposed weighted score fusion models are "more reliable" and demonstrate "a good improvement" (1-5%) over individual ML algorithms.</a:t>
            </a:r>
            <a:endParaRPr/>
          </a:p>
        </p:txBody>
      </p:sp>
      <p:sp>
        <p:nvSpPr>
          <p:cNvPr id="324" name="Google Shape;324;p27"/>
          <p:cNvSpPr txBox="1"/>
          <p:nvPr/>
        </p:nvSpPr>
        <p:spPr>
          <a:xfrm>
            <a:off x="1714500" y="3280469"/>
            <a:ext cx="91440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1E293B"/>
                </a:solidFill>
                <a:latin typeface="Lato"/>
                <a:ea typeface="Lato"/>
                <a:cs typeface="Lato"/>
                <a:sym typeface="Lato"/>
              </a:rPr>
              <a:t>Proven Effectiveness:</a:t>
            </a:r>
            <a:r>
              <a:rPr lang="en-US" sz="1425" b="0" i="0" u="none" strike="noStrike" cap="none">
                <a:solidFill>
                  <a:srgbClr val="334155"/>
                </a:solidFill>
                <a:latin typeface="Lato"/>
                <a:ea typeface="Lato"/>
                <a:cs typeface="Lato"/>
                <a:sym typeface="Lato"/>
              </a:rPr>
              <a:t> The method was validated on both simple binary (95.08%) and complex multi-class (75.41%) problems, achieving SOTA results for this dataset.</a:t>
            </a:r>
            <a:endParaRPr/>
          </a:p>
        </p:txBody>
      </p:sp>
      <p:sp>
        <p:nvSpPr>
          <p:cNvPr id="325" name="Google Shape;325;p27"/>
          <p:cNvSpPr txBox="1"/>
          <p:nvPr/>
        </p:nvSpPr>
        <p:spPr>
          <a:xfrm>
            <a:off x="1714500" y="4049910"/>
            <a:ext cx="91440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1E293B"/>
                </a:solidFill>
                <a:latin typeface="Lato"/>
                <a:ea typeface="Lato"/>
                <a:cs typeface="Lato"/>
                <a:sym typeface="Lato"/>
              </a:rPr>
              <a:t>Future Work:</a:t>
            </a:r>
            <a:r>
              <a:rPr lang="en-US" sz="1425" b="0" i="0" u="none" strike="noStrike" cap="none">
                <a:solidFill>
                  <a:srgbClr val="334155"/>
                </a:solidFill>
                <a:latin typeface="Lato"/>
                <a:ea typeface="Lato"/>
                <a:cs typeface="Lato"/>
                <a:sym typeface="Lato"/>
              </a:rPr>
              <a:t> Authors propose a mobile app for patients or a web-based platform for physicians as a clinical decision support tool.</a:t>
            </a:r>
            <a:endParaRPr/>
          </a:p>
        </p:txBody>
      </p:sp>
      <p:sp>
        <p:nvSpPr>
          <p:cNvPr id="326" name="Google Shape;326;p27"/>
          <p:cNvSpPr txBox="1"/>
          <p:nvPr/>
        </p:nvSpPr>
        <p:spPr>
          <a:xfrm>
            <a:off x="1714500" y="4819352"/>
            <a:ext cx="914400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1E293B"/>
                </a:solidFill>
                <a:latin typeface="Lato"/>
                <a:ea typeface="Lato"/>
                <a:cs typeface="Lato"/>
                <a:sym typeface="Lato"/>
              </a:rPr>
              <a:t>Broad Application:</a:t>
            </a:r>
            <a:r>
              <a:rPr lang="en-US" sz="1425" b="0" i="0" u="none" strike="noStrike" cap="none">
                <a:solidFill>
                  <a:srgbClr val="334155"/>
                </a:solidFill>
                <a:latin typeface="Lato"/>
                <a:ea typeface="Lato"/>
                <a:cs typeface="Lato"/>
                <a:sym typeface="Lato"/>
              </a:rPr>
              <a:t> The general-purpose method "could also apply to other diseases as well."</a:t>
            </a:r>
            <a:endParaRPr/>
          </a:p>
        </p:txBody>
      </p:sp>
      <p:pic>
        <p:nvPicPr>
          <p:cNvPr id="327" name="Google Shape;327;p27" descr="image.png"/>
          <p:cNvPicPr preferRelativeResize="0"/>
          <p:nvPr/>
        </p:nvPicPr>
        <p:blipFill rotWithShape="1">
          <a:blip r:embed="rId4">
            <a:alphaModFix/>
          </a:blip>
          <a:srcRect/>
          <a:stretch/>
        </p:blipFill>
        <p:spPr>
          <a:xfrm>
            <a:off x="1333500" y="2558653"/>
            <a:ext cx="238125" cy="228600"/>
          </a:xfrm>
          <a:prstGeom prst="rect">
            <a:avLst/>
          </a:prstGeom>
          <a:noFill/>
          <a:ln>
            <a:noFill/>
          </a:ln>
        </p:spPr>
      </p:pic>
      <p:pic>
        <p:nvPicPr>
          <p:cNvPr id="328" name="Google Shape;328;p27" descr="image.png"/>
          <p:cNvPicPr preferRelativeResize="0"/>
          <p:nvPr/>
        </p:nvPicPr>
        <p:blipFill rotWithShape="1">
          <a:blip r:embed="rId5">
            <a:alphaModFix/>
          </a:blip>
          <a:srcRect/>
          <a:stretch/>
        </p:blipFill>
        <p:spPr>
          <a:xfrm>
            <a:off x="1333500" y="3328094"/>
            <a:ext cx="238125" cy="228600"/>
          </a:xfrm>
          <a:prstGeom prst="rect">
            <a:avLst/>
          </a:prstGeom>
          <a:noFill/>
          <a:ln>
            <a:noFill/>
          </a:ln>
        </p:spPr>
      </p:pic>
      <p:pic>
        <p:nvPicPr>
          <p:cNvPr id="329" name="Google Shape;329;p27" descr="image.png"/>
          <p:cNvPicPr preferRelativeResize="0"/>
          <p:nvPr/>
        </p:nvPicPr>
        <p:blipFill rotWithShape="1">
          <a:blip r:embed="rId6">
            <a:alphaModFix/>
          </a:blip>
          <a:srcRect/>
          <a:stretch/>
        </p:blipFill>
        <p:spPr>
          <a:xfrm>
            <a:off x="1333500" y="4097535"/>
            <a:ext cx="238125" cy="228600"/>
          </a:xfrm>
          <a:prstGeom prst="rect">
            <a:avLst/>
          </a:prstGeom>
          <a:noFill/>
          <a:ln>
            <a:noFill/>
          </a:ln>
        </p:spPr>
      </p:pic>
      <p:pic>
        <p:nvPicPr>
          <p:cNvPr id="330" name="Google Shape;330;p27" descr="image.png"/>
          <p:cNvPicPr preferRelativeResize="0"/>
          <p:nvPr/>
        </p:nvPicPr>
        <p:blipFill rotWithShape="1">
          <a:blip r:embed="rId7">
            <a:alphaModFix/>
          </a:blip>
          <a:srcRect/>
          <a:stretch/>
        </p:blipFill>
        <p:spPr>
          <a:xfrm>
            <a:off x="1333500" y="4866977"/>
            <a:ext cx="238125" cy="228600"/>
          </a:xfrm>
          <a:prstGeom prst="rect">
            <a:avLst/>
          </a:prstGeom>
          <a:noFill/>
          <a:ln>
            <a:noFill/>
          </a:ln>
        </p:spPr>
      </p:pic>
      <p:sp>
        <p:nvSpPr>
          <p:cNvPr id="331" name="Google Shape;331;p27"/>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1E293B"/>
                </a:solidFill>
                <a:latin typeface="Poppins"/>
                <a:ea typeface="Poppins"/>
                <a:cs typeface="Poppins"/>
                <a:sym typeface="Poppins"/>
              </a:rPr>
              <a:t>Conclusions &amp; Future Work</a:t>
            </a:r>
            <a:endParaRPr/>
          </a:p>
        </p:txBody>
      </p:sp>
      <p:sp>
        <p:nvSpPr>
          <p:cNvPr id="3" name="Slide Number Placeholder 2">
            <a:extLst>
              <a:ext uri="{FF2B5EF4-FFF2-40B4-BE49-F238E27FC236}">
                <a16:creationId xmlns:a16="http://schemas.microsoft.com/office/drawing/2014/main" id="{8C6A3D57-466C-39DD-BDDF-920823B948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28"/>
          <p:cNvSpPr txBox="1"/>
          <p:nvPr/>
        </p:nvSpPr>
        <p:spPr>
          <a:xfrm>
            <a:off x="822625" y="2207125"/>
            <a:ext cx="10258200" cy="4091700"/>
          </a:xfrm>
          <a:prstGeom prst="rect">
            <a:avLst/>
          </a:prstGeom>
          <a:noFill/>
          <a:ln>
            <a:noFill/>
          </a:ln>
        </p:spPr>
        <p:txBody>
          <a:bodyPr spcFirstLastPara="1" wrap="square" lIns="91425" tIns="91425" rIns="91425" bIns="91425" anchor="t" anchorCtr="0">
            <a:noAutofit/>
          </a:bodyPr>
          <a:lstStyle/>
          <a:p>
            <a:pPr marL="457200" lvl="0" indent="-320675" algn="l" rtl="0">
              <a:lnSpc>
                <a:spcPct val="160000"/>
              </a:lnSpc>
              <a:spcBef>
                <a:spcPts val="0"/>
              </a:spcBef>
              <a:spcAft>
                <a:spcPts val="0"/>
              </a:spcAft>
              <a:buClr>
                <a:srgbClr val="374151"/>
              </a:buClr>
              <a:buSzPts val="1450"/>
              <a:buFont typeface="Lato"/>
              <a:buAutoNum type="arabicPeriod"/>
            </a:pPr>
            <a:r>
              <a:rPr lang="en-US" sz="1450" b="1">
                <a:solidFill>
                  <a:srgbClr val="111827"/>
                </a:solidFill>
                <a:highlight>
                  <a:srgbClr val="FFFFFF"/>
                </a:highlight>
                <a:latin typeface="Lato"/>
                <a:ea typeface="Lato"/>
                <a:cs typeface="Lato"/>
                <a:sym typeface="Lato"/>
              </a:rPr>
              <a:t>Primary Paper:</a:t>
            </a:r>
            <a:r>
              <a:rPr lang="en-US" sz="1450">
                <a:solidFill>
                  <a:srgbClr val="374151"/>
                </a:solidFill>
                <a:highlight>
                  <a:srgbClr val="FFFFFF"/>
                </a:highlight>
                <a:latin typeface="Lato"/>
                <a:ea typeface="Lato"/>
                <a:cs typeface="Lato"/>
                <a:sym typeface="Lato"/>
              </a:rPr>
              <a:t> Kibria, H. B., &amp; Matin, A. (2022). </a:t>
            </a:r>
            <a:r>
              <a:rPr lang="en-US" sz="1450" i="1">
                <a:solidFill>
                  <a:srgbClr val="374151"/>
                </a:solidFill>
                <a:highlight>
                  <a:srgbClr val="FFFFFF"/>
                </a:highlight>
                <a:latin typeface="Lato"/>
                <a:ea typeface="Lato"/>
                <a:cs typeface="Lato"/>
                <a:sym typeface="Lato"/>
              </a:rPr>
              <a:t>The Severity Prediction of The Binary And Multi-Class Cardiovascular Disease: A Machine Learning-Based Fusion Approach</a:t>
            </a:r>
            <a:r>
              <a:rPr lang="en-US" sz="1450">
                <a:solidFill>
                  <a:srgbClr val="374151"/>
                </a:solidFill>
                <a:highlight>
                  <a:srgbClr val="FFFFFF"/>
                </a:highlight>
                <a:latin typeface="Lato"/>
                <a:ea typeface="Lato"/>
                <a:cs typeface="Lato"/>
                <a:sym typeface="Lato"/>
              </a:rPr>
              <a:t>. arXiv preprint arXiv:2203.04921.</a:t>
            </a:r>
            <a:endParaRPr sz="1450">
              <a:solidFill>
                <a:srgbClr val="374151"/>
              </a:solidFill>
              <a:highlight>
                <a:srgbClr val="FFFFFF"/>
              </a:highlight>
              <a:latin typeface="Lato"/>
              <a:ea typeface="Lato"/>
              <a:cs typeface="Lato"/>
              <a:sym typeface="Lato"/>
            </a:endParaRPr>
          </a:p>
          <a:p>
            <a:pPr marL="457200" lvl="0" indent="-320675" algn="l" rtl="0">
              <a:lnSpc>
                <a:spcPct val="160000"/>
              </a:lnSpc>
              <a:spcBef>
                <a:spcPts val="0"/>
              </a:spcBef>
              <a:spcAft>
                <a:spcPts val="0"/>
              </a:spcAft>
              <a:buClr>
                <a:srgbClr val="374151"/>
              </a:buClr>
              <a:buSzPts val="1450"/>
              <a:buFont typeface="Lato"/>
              <a:buAutoNum type="arabicPeriod"/>
            </a:pPr>
            <a:r>
              <a:rPr lang="en-US" sz="1450" b="1">
                <a:solidFill>
                  <a:srgbClr val="111827"/>
                </a:solidFill>
                <a:highlight>
                  <a:srgbClr val="FFFFFF"/>
                </a:highlight>
                <a:latin typeface="Lato"/>
                <a:ea typeface="Lato"/>
                <a:cs typeface="Lato"/>
                <a:sym typeface="Lato"/>
              </a:rPr>
              <a:t>Paul et al.:</a:t>
            </a:r>
            <a:r>
              <a:rPr lang="en-US" sz="1450">
                <a:solidFill>
                  <a:srgbClr val="374151"/>
                </a:solidFill>
                <a:highlight>
                  <a:srgbClr val="FFFFFF"/>
                </a:highlight>
                <a:latin typeface="Lato"/>
                <a:ea typeface="Lato"/>
                <a:cs typeface="Lato"/>
                <a:sym typeface="Lato"/>
              </a:rPr>
              <a:t> Cited in paper for "Weighted fuzzy system" (Ref [19]).</a:t>
            </a:r>
            <a:endParaRPr sz="1450">
              <a:solidFill>
                <a:srgbClr val="374151"/>
              </a:solidFill>
              <a:highlight>
                <a:srgbClr val="FFFFFF"/>
              </a:highlight>
              <a:latin typeface="Lato"/>
              <a:ea typeface="Lato"/>
              <a:cs typeface="Lato"/>
              <a:sym typeface="Lato"/>
            </a:endParaRPr>
          </a:p>
          <a:p>
            <a:pPr marL="457200" lvl="0" indent="-320675" algn="l" rtl="0">
              <a:lnSpc>
                <a:spcPct val="160000"/>
              </a:lnSpc>
              <a:spcBef>
                <a:spcPts val="0"/>
              </a:spcBef>
              <a:spcAft>
                <a:spcPts val="0"/>
              </a:spcAft>
              <a:buClr>
                <a:srgbClr val="374151"/>
              </a:buClr>
              <a:buSzPts val="1450"/>
              <a:buFont typeface="Lato"/>
              <a:buAutoNum type="arabicPeriod"/>
            </a:pPr>
            <a:r>
              <a:rPr lang="en-US" sz="1450" b="1">
                <a:solidFill>
                  <a:srgbClr val="111827"/>
                </a:solidFill>
                <a:highlight>
                  <a:srgbClr val="FFFFFF"/>
                </a:highlight>
                <a:latin typeface="Lato"/>
                <a:ea typeface="Lato"/>
                <a:cs typeface="Lato"/>
                <a:sym typeface="Lato"/>
              </a:rPr>
              <a:t>Samuel et al.:</a:t>
            </a:r>
            <a:r>
              <a:rPr lang="en-US" sz="1450">
                <a:solidFill>
                  <a:srgbClr val="374151"/>
                </a:solidFill>
                <a:highlight>
                  <a:srgbClr val="FFFFFF"/>
                </a:highlight>
                <a:latin typeface="Lato"/>
                <a:ea typeface="Lato"/>
                <a:cs typeface="Lato"/>
                <a:sym typeface="Lato"/>
              </a:rPr>
              <a:t> Cited in paper for "Hybrid (ANN Fuzzy AHP)" (Ref [20]).</a:t>
            </a:r>
            <a:endParaRPr sz="1450">
              <a:solidFill>
                <a:srgbClr val="374151"/>
              </a:solidFill>
              <a:highlight>
                <a:srgbClr val="FFFFFF"/>
              </a:highlight>
              <a:latin typeface="Lato"/>
              <a:ea typeface="Lato"/>
              <a:cs typeface="Lato"/>
              <a:sym typeface="Lato"/>
            </a:endParaRPr>
          </a:p>
          <a:p>
            <a:pPr marL="457200" lvl="0" indent="-320675" algn="l" rtl="0">
              <a:lnSpc>
                <a:spcPct val="160000"/>
              </a:lnSpc>
              <a:spcBef>
                <a:spcPts val="0"/>
              </a:spcBef>
              <a:spcAft>
                <a:spcPts val="0"/>
              </a:spcAft>
              <a:buClr>
                <a:srgbClr val="374151"/>
              </a:buClr>
              <a:buSzPts val="1450"/>
              <a:buFont typeface="Lato"/>
              <a:buAutoNum type="arabicPeriod"/>
            </a:pPr>
            <a:r>
              <a:rPr lang="en-US" sz="1450" b="1">
                <a:solidFill>
                  <a:srgbClr val="111827"/>
                </a:solidFill>
                <a:highlight>
                  <a:srgbClr val="FFFFFF"/>
                </a:highlight>
                <a:latin typeface="Lato"/>
                <a:ea typeface="Lato"/>
                <a:cs typeface="Lato"/>
                <a:sym typeface="Lato"/>
              </a:rPr>
              <a:t>Harimoorthy et al.:</a:t>
            </a:r>
            <a:r>
              <a:rPr lang="en-US" sz="1450">
                <a:solidFill>
                  <a:srgbClr val="374151"/>
                </a:solidFill>
                <a:highlight>
                  <a:srgbClr val="FFFFFF"/>
                </a:highlight>
                <a:latin typeface="Lato"/>
                <a:ea typeface="Lato"/>
                <a:cs typeface="Lato"/>
                <a:sym typeface="Lato"/>
              </a:rPr>
              <a:t> Cited in paper for "Improved SVM-Radial" (Ref [21]).</a:t>
            </a:r>
            <a:endParaRPr sz="1450">
              <a:solidFill>
                <a:srgbClr val="374151"/>
              </a:solidFill>
              <a:highlight>
                <a:srgbClr val="FFFFFF"/>
              </a:highlight>
              <a:latin typeface="Lato"/>
              <a:ea typeface="Lato"/>
              <a:cs typeface="Lato"/>
              <a:sym typeface="Lato"/>
            </a:endParaRPr>
          </a:p>
          <a:p>
            <a:pPr marL="457200" lvl="0" indent="-320675" algn="l" rtl="0">
              <a:lnSpc>
                <a:spcPct val="160000"/>
              </a:lnSpc>
              <a:spcBef>
                <a:spcPts val="0"/>
              </a:spcBef>
              <a:spcAft>
                <a:spcPts val="0"/>
              </a:spcAft>
              <a:buClr>
                <a:srgbClr val="374151"/>
              </a:buClr>
              <a:buSzPts val="1450"/>
              <a:buFont typeface="Lato"/>
              <a:buAutoNum type="arabicPeriod"/>
            </a:pPr>
            <a:r>
              <a:rPr lang="en-US" sz="1450" b="1">
                <a:solidFill>
                  <a:srgbClr val="111827"/>
                </a:solidFill>
                <a:highlight>
                  <a:srgbClr val="FFFFFF"/>
                </a:highlight>
                <a:latin typeface="Lato"/>
                <a:ea typeface="Lato"/>
                <a:cs typeface="Lato"/>
                <a:sym typeface="Lato"/>
              </a:rPr>
              <a:t>Nahiduzzaman et al.:</a:t>
            </a:r>
            <a:r>
              <a:rPr lang="en-US" sz="1450">
                <a:solidFill>
                  <a:srgbClr val="374151"/>
                </a:solidFill>
                <a:highlight>
                  <a:srgbClr val="FFFFFF"/>
                </a:highlight>
                <a:latin typeface="Lato"/>
                <a:ea typeface="Lato"/>
                <a:cs typeface="Lato"/>
                <a:sym typeface="Lato"/>
              </a:rPr>
              <a:t> Cited in paper for "SVM on same problem" (Ref [22]).</a:t>
            </a:r>
            <a:endParaRPr sz="1450">
              <a:solidFill>
                <a:srgbClr val="374151"/>
              </a:solidFill>
              <a:highlight>
                <a:srgbClr val="FFFFFF"/>
              </a:highlight>
              <a:latin typeface="Lato"/>
              <a:ea typeface="Lato"/>
              <a:cs typeface="Lato"/>
              <a:sym typeface="Lato"/>
            </a:endParaRPr>
          </a:p>
          <a:p>
            <a:pPr marL="0" lvl="0" indent="0" algn="ctr" rtl="0">
              <a:lnSpc>
                <a:spcPct val="150000"/>
              </a:lnSpc>
              <a:spcBef>
                <a:spcPts val="2300"/>
              </a:spcBef>
              <a:spcAft>
                <a:spcPts val="1200"/>
              </a:spcAft>
              <a:buNone/>
            </a:pPr>
            <a:r>
              <a:rPr lang="en-US" sz="1200" i="1">
                <a:solidFill>
                  <a:srgbClr val="374151"/>
                </a:solidFill>
                <a:highlight>
                  <a:srgbClr val="FFFFFF"/>
                </a:highlight>
                <a:latin typeface="Lato"/>
                <a:ea typeface="Lato"/>
                <a:cs typeface="Lato"/>
                <a:sym typeface="Lato"/>
              </a:rPr>
              <a:t>Note: Specific citations refer to the bibliography within the primary paper (Kibria &amp; Matin, 2022).</a:t>
            </a:r>
            <a:endParaRPr sz="3200">
              <a:solidFill>
                <a:schemeClr val="dk1"/>
              </a:solidFill>
              <a:latin typeface="Calibri"/>
              <a:ea typeface="Calibri"/>
              <a:cs typeface="Calibri"/>
              <a:sym typeface="Calibri"/>
            </a:endParaRPr>
          </a:p>
        </p:txBody>
      </p:sp>
      <p:sp>
        <p:nvSpPr>
          <p:cNvPr id="337" name="Google Shape;337;p28"/>
          <p:cNvSpPr txBox="1"/>
          <p:nvPr/>
        </p:nvSpPr>
        <p:spPr>
          <a:xfrm>
            <a:off x="664125" y="478225"/>
            <a:ext cx="6540900" cy="1123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3000"/>
              </a:spcAft>
              <a:buNone/>
            </a:pPr>
            <a:r>
              <a:rPr lang="en-US" sz="3000" b="1">
                <a:solidFill>
                  <a:srgbClr val="111827"/>
                </a:solidFill>
                <a:latin typeface="Poppins"/>
                <a:ea typeface="Poppins"/>
                <a:cs typeface="Poppins"/>
                <a:sym typeface="Poppins"/>
              </a:rPr>
              <a:t>References</a:t>
            </a:r>
            <a:endParaRPr sz="3200">
              <a:solidFill>
                <a:schemeClr val="dk1"/>
              </a:solidFill>
              <a:latin typeface="Calibri"/>
              <a:ea typeface="Calibri"/>
              <a:cs typeface="Calibri"/>
              <a:sym typeface="Calibri"/>
            </a:endParaRPr>
          </a:p>
        </p:txBody>
      </p:sp>
      <p:sp>
        <p:nvSpPr>
          <p:cNvPr id="3" name="Slide Number Placeholder 2">
            <a:extLst>
              <a:ext uri="{FF2B5EF4-FFF2-40B4-BE49-F238E27FC236}">
                <a16:creationId xmlns:a16="http://schemas.microsoft.com/office/drawing/2014/main" id="{C3CD033D-4356-1AE4-E87C-D5919868F4CD}"/>
              </a:ext>
            </a:extLst>
          </p:cNvPr>
          <p:cNvSpPr>
            <a:spLocks noGrp="1"/>
          </p:cNvSpPr>
          <p:nvPr>
            <p:ph type="sldNum" idx="12"/>
          </p:nvPr>
        </p:nvSpPr>
        <p:spPr>
          <a:xfrm>
            <a:off x="-1760807" y="6298825"/>
            <a:ext cx="2133600" cy="365125"/>
          </a:xfrm>
        </p:spPr>
        <p:txBody>
          <a:bodyPr/>
          <a:lstStyle/>
          <a:p>
            <a:pPr marL="0" lvl="0" indent="0" algn="r" rtl="0">
              <a:spcBef>
                <a:spcPts val="0"/>
              </a:spcBef>
              <a:spcAft>
                <a:spcPts val="0"/>
              </a:spcAft>
              <a:buNone/>
            </a:pPr>
            <a:fld id="{00000000-1234-1234-1234-123412341234}"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1"/>
        <p:cNvGrpSpPr/>
        <p:nvPr/>
      </p:nvGrpSpPr>
      <p:grpSpPr>
        <a:xfrm>
          <a:off x="0" y="0"/>
          <a:ext cx="0" cy="0"/>
          <a:chOff x="0" y="0"/>
          <a:chExt cx="0" cy="0"/>
        </a:xfrm>
      </p:grpSpPr>
      <p:pic>
        <p:nvPicPr>
          <p:cNvPr id="342" name="Google Shape;342;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43" name="Google Shape;343;p29"/>
          <p:cNvSpPr txBox="1"/>
          <p:nvPr/>
        </p:nvSpPr>
        <p:spPr>
          <a:xfrm>
            <a:off x="295275" y="2490787"/>
            <a:ext cx="11601450" cy="114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3B82F6"/>
                </a:solidFill>
                <a:latin typeface="Poppins"/>
                <a:ea typeface="Poppins"/>
                <a:cs typeface="Poppins"/>
                <a:sym typeface="Poppins"/>
              </a:rPr>
              <a:t>Thank You</a:t>
            </a:r>
            <a:endParaRPr/>
          </a:p>
        </p:txBody>
      </p:sp>
      <p:sp>
        <p:nvSpPr>
          <p:cNvPr id="344" name="Google Shape;344;p29"/>
          <p:cNvSpPr txBox="1"/>
          <p:nvPr/>
        </p:nvSpPr>
        <p:spPr>
          <a:xfrm>
            <a:off x="571500" y="3843337"/>
            <a:ext cx="1104900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334155"/>
                </a:solidFill>
                <a:latin typeface="Lato"/>
                <a:ea typeface="Lato"/>
                <a:cs typeface="Lato"/>
                <a:sym typeface="Lato"/>
              </a:rPr>
              <a:t>Questions?</a:t>
            </a:r>
            <a:endParaRPr/>
          </a:p>
        </p:txBody>
      </p:sp>
      <p:sp>
        <p:nvSpPr>
          <p:cNvPr id="3" name="Slide Number Placeholder 2">
            <a:extLst>
              <a:ext uri="{FF2B5EF4-FFF2-40B4-BE49-F238E27FC236}">
                <a16:creationId xmlns:a16="http://schemas.microsoft.com/office/drawing/2014/main" id="{9B4CFF83-56DC-61C1-0B33-DA2FF87B589D}"/>
              </a:ext>
            </a:extLst>
          </p:cNvPr>
          <p:cNvSpPr>
            <a:spLocks noGrp="1"/>
          </p:cNvSpPr>
          <p:nvPr>
            <p:ph type="sldNum" idx="12"/>
          </p:nvPr>
        </p:nvSpPr>
        <p:spPr>
          <a:xfrm>
            <a:off x="-1704535" y="6415088"/>
            <a:ext cx="2133600" cy="365125"/>
          </a:xfrm>
        </p:spPr>
        <p:txBody>
          <a:bodyPr/>
          <a:lstStyle/>
          <a:p>
            <a:pPr marL="0" lvl="0" indent="0" algn="r" rtl="0">
              <a:spcBef>
                <a:spcPts val="0"/>
              </a:spcBef>
              <a:spcAft>
                <a:spcPts val="0"/>
              </a:spcAft>
              <a:buNone/>
            </a:pPr>
            <a:fld id="{00000000-1234-1234-1234-123412341234}" type="slidenum">
              <a:rPr lang="en-US" smtClean="0"/>
              <a:t>17</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1432</Words>
  <Application>Microsoft Macintosh PowerPoint</Application>
  <PresentationFormat>Widescreen</PresentationFormat>
  <Paragraphs>168</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Calibri</vt:lpstr>
      <vt:lpstr>Lato</vt:lpstr>
      <vt:lpstr>Poppins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Kallam, Yogeshvar Reddy</cp:lastModifiedBy>
  <cp:revision>3</cp:revision>
  <dcterms:modified xsi:type="dcterms:W3CDTF">2025-11-11T04:57:09Z</dcterms:modified>
</cp:coreProperties>
</file>